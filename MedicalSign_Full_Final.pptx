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F0F9"/>
    <a:srgbClr val="29E0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874" y="5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3143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da.gov/resources/business-brief-hospital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mc.ncbi.nlm.nih.gov/articles/PMC8313197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457200"/>
            <a:ext cx="2286000" cy="310896"/>
          </a:xfrm>
          <a:prstGeom prst="roundRect">
            <a:avLst>
              <a:gd name="adj" fmla="val 3529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4572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NLP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86868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Medical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Display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CB3C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แปลงคำพูดแพทย์ภาษาไทย → ข้อความเรียบง่าย → ภาษามือไทย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CB3C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สำหรับผู้พิการทางการได้ยินในโรงพยาบาล</a:t>
            </a:r>
            <a:endParaRPr lang="en-US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E3"/>
                </a:solidFill>
              </a:rPr>
              <a:t>Speech-to-Text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374904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96312" y="37490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E3"/>
                </a:solidFill>
              </a:rPr>
              <a:t>Intent Resolution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69664" y="374904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69664" y="37490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E3"/>
                </a:solidFill>
              </a:rPr>
              <a:t>NLP Pipeline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43016" y="374904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43016" y="37490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E3"/>
                </a:solidFill>
              </a:rPr>
              <a:t>Thai Sign Language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16368" y="374904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16368" y="37490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C8E3"/>
                </a:solidFill>
              </a:rPr>
              <a:t>Assistive Tech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7955280" cy="0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h-TH" sz="1400" i="1" dirty="0" err="1">
                <a:solidFill>
                  <a:srgbClr val="94A3B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อพสิ</a:t>
            </a:r>
            <a:r>
              <a:rPr lang="th-TH" sz="1400" i="1" dirty="0">
                <a:solidFill>
                  <a:srgbClr val="94A3B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ตา พาสุกรี </a:t>
            </a:r>
            <a:r>
              <a:rPr lang="en-US" sz="1200" i="1" dirty="0">
                <a:solidFill>
                  <a:srgbClr val="94A3B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661537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TH SarabunPSK" panose="020B0500040200020003" pitchFamily="34" charset="-34"/>
                <a:ea typeface="Calibri" pitchFamily="34" charset="-122"/>
                <a:cs typeface="TH SarabunPSK" panose="020B0500040200020003" pitchFamily="34" charset="-34"/>
              </a:rPr>
              <a:t>ปัญหาและแรงจูงใจ</a:t>
            </a:r>
            <a:endParaRPr lang="en-US" sz="32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3401568" cy="310896"/>
          </a:xfrm>
          <a:prstGeom prst="roundRect">
            <a:avLst>
              <a:gd name="adj" fmla="val 35294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Healthcare Communication Gap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3969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64992" y="12435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64992" y="17007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64992" y="213969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72784" y="12435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72784" y="17007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72784" y="213969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28155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Pain Points </a:t>
            </a:r>
            <a:r>
              <a:rPr lang="en-US" sz="1300" b="1" dirty="0" err="1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ที่ระบบ</a:t>
            </a:r>
            <a:endParaRPr lang="en-US" sz="13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127248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127248"/>
            <a:ext cx="50292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12724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🗣️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7740" y="3146227"/>
            <a:ext cx="25984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th-TH" sz="1050" dirty="0"/>
              <a:t>การสื่อสารระหว่างแพทย์กับผู้ป่วยหูหนวกยังไม่มีประสิทธิภาพ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05840" y="3274996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th-TH" sz="1000" dirty="0"/>
              <a:t>บุคลากรทางการแพทย์ส่วนใหญ่ไม่สามารถใช้ภาษามือได้</a:t>
            </a:r>
          </a:p>
          <a:p>
            <a:endParaRPr lang="en-US" sz="1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584448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584448"/>
            <a:ext cx="50292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58444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📝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6027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th-TH" sz="1050" dirty="0"/>
              <a:t>ข้อมูลทางการแพทย์มีความซับซ้อนสูง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51560" y="375711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th-TH" sz="1000" dirty="0"/>
              <a:t>ยิ่งยากขึ้นสำหรับผู้พิการทางการได้ยินที่ไม่คุ้นเคยกับศัพท์เฉพาะ</a:t>
            </a:r>
            <a:endParaRPr lang="en-US" sz="1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4041648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4041648"/>
            <a:ext cx="50292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" y="404164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" y="40599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th-TH" sz="1050" dirty="0"/>
              <a:t>ความล่าช้าในการให้บริการ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51560" y="4187043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th-TH" sz="1000" dirty="0"/>
              <a:t>ต้องใช้เวลาอธิบายซ้ำหลายรอบ</a:t>
            </a:r>
            <a:endParaRPr lang="en-US" sz="1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" y="4498848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4498848"/>
            <a:ext cx="50292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4360" y="449884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🧩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05840" y="45171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th-TH" sz="1050" dirty="0"/>
              <a:t>ความเสี่ยงต่อความเข้าใจผิด (</a:t>
            </a:r>
            <a:r>
              <a:rPr lang="en-US" sz="1050" dirty="0"/>
              <a:t>Miscommunication)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05840" y="466344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th-TH" sz="1000" dirty="0"/>
              <a:t>ส่งผลต่อความปลอดภัยและประสิทธิภาพในการรักษา</a:t>
            </a:r>
            <a:endParaRPr lang="en-US" sz="1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BE9D475-5DE1-6E92-D6A7-B83D9310F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139" y="2577164"/>
            <a:ext cx="4321237" cy="233704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75EF9A6-230F-6DE1-E6E4-9700F11B127F}"/>
              </a:ext>
            </a:extLst>
          </p:cNvPr>
          <p:cNvSpPr txBox="1"/>
          <p:nvPr/>
        </p:nvSpPr>
        <p:spPr>
          <a:xfrm>
            <a:off x="829822" y="2421606"/>
            <a:ext cx="45720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Ref: Estimated from Deaf education studies in Thailand</a:t>
            </a:r>
            <a:r>
              <a:rPr lang="th-TH" sz="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Source: WHO, Thai Deaf education studies   </a:t>
            </a:r>
            <a:r>
              <a:rPr lang="th-TH" sz="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กรมส่งเสริมและพัฒนาคุณภาพชีวิต</a:t>
            </a:r>
            <a:endParaRPr lang="en-US" sz="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4D6C7DF-F596-45FA-8CB3-FB200A052DFF}"/>
              </a:ext>
            </a:extLst>
          </p:cNvPr>
          <p:cNvGrpSpPr/>
          <p:nvPr/>
        </p:nvGrpSpPr>
        <p:grpSpPr>
          <a:xfrm>
            <a:off x="701052" y="1170896"/>
            <a:ext cx="7848588" cy="1243718"/>
            <a:chOff x="328430" y="1178093"/>
            <a:chExt cx="7848588" cy="1243718"/>
          </a:xfrm>
        </p:grpSpPr>
        <p:sp>
          <p:nvSpPr>
            <p:cNvPr id="13" name="Shape 11"/>
            <p:cNvSpPr/>
            <p:nvPr/>
          </p:nvSpPr>
          <p:spPr>
            <a:xfrm>
              <a:off x="457200" y="1226281"/>
              <a:ext cx="2414018" cy="119553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" name="Shape 11">
              <a:extLst>
                <a:ext uri="{FF2B5EF4-FFF2-40B4-BE49-F238E27FC236}">
                  <a16:creationId xmlns:a16="http://schemas.microsoft.com/office/drawing/2014/main" id="{58B091C2-1CF6-D829-B01C-888246A97F1E}"/>
                </a:ext>
              </a:extLst>
            </p:cNvPr>
            <p:cNvSpPr/>
            <p:nvPr/>
          </p:nvSpPr>
          <p:spPr>
            <a:xfrm>
              <a:off x="3035810" y="1207084"/>
              <a:ext cx="2414018" cy="119553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" name="Shape 11">
              <a:extLst>
                <a:ext uri="{FF2B5EF4-FFF2-40B4-BE49-F238E27FC236}">
                  <a16:creationId xmlns:a16="http://schemas.microsoft.com/office/drawing/2014/main" id="{A357C79B-50B1-7DBC-3BDC-04DA5662EE97}"/>
                </a:ext>
              </a:extLst>
            </p:cNvPr>
            <p:cNvSpPr/>
            <p:nvPr/>
          </p:nvSpPr>
          <p:spPr>
            <a:xfrm>
              <a:off x="5614420" y="1178093"/>
              <a:ext cx="2414018" cy="119553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635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" name="Text 19">
              <a:extLst>
                <a:ext uri="{FF2B5EF4-FFF2-40B4-BE49-F238E27FC236}">
                  <a16:creationId xmlns:a16="http://schemas.microsoft.com/office/drawing/2014/main" id="{5CE283DF-7C4C-0A44-CB48-B1DF9555E6AA}"/>
                </a:ext>
              </a:extLst>
            </p:cNvPr>
            <p:cNvSpPr/>
            <p:nvPr/>
          </p:nvSpPr>
          <p:spPr>
            <a:xfrm>
              <a:off x="355094" y="1345153"/>
              <a:ext cx="25984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th-TH" sz="12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ผู้มีความท้าทายทางการได้ยิน </a:t>
              </a:r>
              <a:r>
                <a:rPr lang="en-US" sz="12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(</a:t>
              </a:r>
              <a:r>
                <a:rPr lang="th-TH" sz="12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ขึ้นทะเบียน </a:t>
              </a:r>
              <a:r>
                <a:rPr lang="en-US" sz="12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)</a:t>
              </a:r>
            </a:p>
          </p:txBody>
        </p:sp>
        <p:sp>
          <p:nvSpPr>
            <p:cNvPr id="53" name="Text 19">
              <a:extLst>
                <a:ext uri="{FF2B5EF4-FFF2-40B4-BE49-F238E27FC236}">
                  <a16:creationId xmlns:a16="http://schemas.microsoft.com/office/drawing/2014/main" id="{245E439D-7907-329F-7584-F98993E1AE53}"/>
                </a:ext>
              </a:extLst>
            </p:cNvPr>
            <p:cNvSpPr/>
            <p:nvPr/>
          </p:nvSpPr>
          <p:spPr>
            <a:xfrm>
              <a:off x="2980178" y="1345153"/>
              <a:ext cx="25984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th-TH" sz="12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เข้าถึงการศึกษา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313C815E-667C-D3B9-A45C-A2CF6E03BD70}"/>
                </a:ext>
              </a:extLst>
            </p:cNvPr>
            <p:cNvSpPr/>
            <p:nvPr/>
          </p:nvSpPr>
          <p:spPr>
            <a:xfrm>
              <a:off x="5578598" y="1310590"/>
              <a:ext cx="25984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th-TH" sz="12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ไม่ได้รับการศึกษา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5" name="Text 19">
              <a:extLst>
                <a:ext uri="{FF2B5EF4-FFF2-40B4-BE49-F238E27FC236}">
                  <a16:creationId xmlns:a16="http://schemas.microsoft.com/office/drawing/2014/main" id="{916449DE-7D96-1F84-32A9-FAA92F1486FB}"/>
                </a:ext>
              </a:extLst>
            </p:cNvPr>
            <p:cNvSpPr/>
            <p:nvPr/>
          </p:nvSpPr>
          <p:spPr>
            <a:xfrm>
              <a:off x="328430" y="2114266"/>
              <a:ext cx="25984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th-TH" sz="12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คน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6" name="Text 19">
              <a:extLst>
                <a:ext uri="{FF2B5EF4-FFF2-40B4-BE49-F238E27FC236}">
                  <a16:creationId xmlns:a16="http://schemas.microsoft.com/office/drawing/2014/main" id="{631A442F-E00D-1A18-156B-8F39028653C5}"/>
                </a:ext>
              </a:extLst>
            </p:cNvPr>
            <p:cNvSpPr/>
            <p:nvPr/>
          </p:nvSpPr>
          <p:spPr>
            <a:xfrm>
              <a:off x="2907040" y="2048681"/>
              <a:ext cx="25984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1200" b="1" dirty="0">
                  <a:solidFill>
                    <a:schemeClr val="bg2">
                      <a:lumMod val="10000"/>
                    </a:schemeClr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≈ </a:t>
              </a:r>
              <a:r>
                <a:rPr lang="en-US" sz="12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30,000</a:t>
              </a:r>
              <a:r>
                <a:rPr lang="th-TH" sz="12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คน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7" name="Text 19">
              <a:extLst>
                <a:ext uri="{FF2B5EF4-FFF2-40B4-BE49-F238E27FC236}">
                  <a16:creationId xmlns:a16="http://schemas.microsoft.com/office/drawing/2014/main" id="{7AF7CB26-110C-CB3C-DEF0-225BA65DDBBE}"/>
                </a:ext>
              </a:extLst>
            </p:cNvPr>
            <p:cNvSpPr/>
            <p:nvPr/>
          </p:nvSpPr>
          <p:spPr>
            <a:xfrm>
              <a:off x="5578598" y="2019341"/>
              <a:ext cx="25984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1200" b="1" dirty="0">
                  <a:solidFill>
                    <a:schemeClr val="bg2">
                      <a:lumMod val="10000"/>
                    </a:schemeClr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≈</a:t>
              </a:r>
              <a:r>
                <a:rPr lang="th-TH" sz="12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</a:t>
              </a:r>
              <a:r>
                <a:rPr lang="en-US" sz="12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250,000 </a:t>
              </a:r>
              <a:r>
                <a:rPr lang="th-TH" sz="12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คน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8" name="Text 19">
              <a:extLst>
                <a:ext uri="{FF2B5EF4-FFF2-40B4-BE49-F238E27FC236}">
                  <a16:creationId xmlns:a16="http://schemas.microsoft.com/office/drawing/2014/main" id="{2674A0C7-AA3F-F745-3640-F3080214A65E}"/>
                </a:ext>
              </a:extLst>
            </p:cNvPr>
            <p:cNvSpPr/>
            <p:nvPr/>
          </p:nvSpPr>
          <p:spPr>
            <a:xfrm>
              <a:off x="328430" y="1607024"/>
              <a:ext cx="2598420" cy="5558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4000" b="1" dirty="0">
                  <a:solidFill>
                    <a:schemeClr val="bg2">
                      <a:lumMod val="10000"/>
                    </a:schemeClr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443,775</a:t>
              </a:r>
            </a:p>
          </p:txBody>
        </p:sp>
        <p:sp>
          <p:nvSpPr>
            <p:cNvPr id="59" name="Text 19">
              <a:extLst>
                <a:ext uri="{FF2B5EF4-FFF2-40B4-BE49-F238E27FC236}">
                  <a16:creationId xmlns:a16="http://schemas.microsoft.com/office/drawing/2014/main" id="{BCEB669B-5D5D-1F99-7B6C-09AB6786B4E9}"/>
                </a:ext>
              </a:extLst>
            </p:cNvPr>
            <p:cNvSpPr/>
            <p:nvPr/>
          </p:nvSpPr>
          <p:spPr>
            <a:xfrm>
              <a:off x="2882977" y="1566574"/>
              <a:ext cx="2598420" cy="5558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4000" b="1" dirty="0">
                  <a:solidFill>
                    <a:schemeClr val="bg2">
                      <a:lumMod val="10000"/>
                    </a:schemeClr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≈11%</a:t>
              </a:r>
            </a:p>
          </p:txBody>
        </p:sp>
        <p:sp>
          <p:nvSpPr>
            <p:cNvPr id="60" name="Text 19">
              <a:extLst>
                <a:ext uri="{FF2B5EF4-FFF2-40B4-BE49-F238E27FC236}">
                  <a16:creationId xmlns:a16="http://schemas.microsoft.com/office/drawing/2014/main" id="{793FC764-CA88-2F98-8063-C2EDE4820A1C}"/>
                </a:ext>
              </a:extLst>
            </p:cNvPr>
            <p:cNvSpPr/>
            <p:nvPr/>
          </p:nvSpPr>
          <p:spPr>
            <a:xfrm>
              <a:off x="5547029" y="1568649"/>
              <a:ext cx="2598420" cy="5558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4000" b="1" dirty="0">
                  <a:solidFill>
                    <a:schemeClr val="bg2">
                      <a:lumMod val="10000"/>
                    </a:schemeClr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≈89%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 System Pipeline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4032504" cy="310896"/>
          </a:xfrm>
          <a:prstGeom prst="roundRect">
            <a:avLst>
              <a:gd name="adj" fmla="val 3529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403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End-to-End Architecture — 6 Stages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1298448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1298448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16736" y="126187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16736" y="1261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1298448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540"/>
                </a:solidFill>
              </a:rPr>
              <a:t>🎙️ Audio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540"/>
                </a:solidFill>
              </a:rPr>
              <a:t>Input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2048256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475569"/>
                </a:solidFill>
              </a:rPr>
              <a:t>Microphone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475569"/>
                </a:solidFill>
              </a:rPr>
              <a:t>Real-time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" y="2441448"/>
            <a:ext cx="969264" cy="1828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700"/>
          </a:p>
        </p:txBody>
      </p:sp>
      <p:sp>
        <p:nvSpPr>
          <p:cNvPr id="12" name="Text 10"/>
          <p:cNvSpPr/>
          <p:nvPr/>
        </p:nvSpPr>
        <p:spPr>
          <a:xfrm>
            <a:off x="438912" y="2441448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591056" y="1929384"/>
            <a:ext cx="10972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719072" y="1207008"/>
            <a:ext cx="1298448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19072" y="1207008"/>
            <a:ext cx="129844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61488" y="126187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61488" y="1261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719072" y="1298448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540"/>
                </a:solidFill>
              </a:rPr>
              <a:t>🤖 Whisper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540"/>
                </a:solidFill>
              </a:rPr>
              <a:t>STT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19072" y="2048256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475569"/>
                </a:solidFill>
              </a:rPr>
              <a:t>large model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475569"/>
                </a:solidFill>
              </a:rPr>
              <a:t>temp=0 beam=5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83664" y="2441448"/>
            <a:ext cx="969264" cy="1828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83664" y="2441448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035808" y="1929384"/>
            <a:ext cx="10972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63824" y="1207008"/>
            <a:ext cx="1298448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63824" y="1207008"/>
            <a:ext cx="1298448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06240" y="126187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06240" y="1261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163824" y="1298448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540"/>
                </a:solidFill>
              </a:rPr>
              <a:t>⚙️ Preprocess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540"/>
                </a:solidFill>
              </a:rPr>
              <a:t>+Simplify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163824" y="2048256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475569"/>
                </a:solidFill>
              </a:rPr>
              <a:t>30+ regex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475569"/>
                </a:solidFill>
              </a:rPr>
              <a:t>rules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28416" y="2441448"/>
            <a:ext cx="969264" cy="1828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28416" y="2441448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sign_data.py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480560" y="1929384"/>
            <a:ext cx="10972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08576" y="1207008"/>
            <a:ext cx="1298448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08576" y="1207008"/>
            <a:ext cx="129844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650992" y="126187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50992" y="1261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08576" y="1298448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540"/>
                </a:solidFill>
              </a:rPr>
              <a:t>🔍 Intent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540"/>
                </a:solidFill>
              </a:rPr>
              <a:t>Resolution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08576" y="2048256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475569"/>
                </a:solidFill>
              </a:rPr>
              <a:t>52 intents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475569"/>
                </a:solidFill>
              </a:rPr>
              <a:t>500+ synonyms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73168" y="2441448"/>
            <a:ext cx="969264" cy="1828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73168" y="2441448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intent_data.py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925312" y="1929384"/>
            <a:ext cx="10972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053328" y="1207008"/>
            <a:ext cx="1298448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053328" y="1207008"/>
            <a:ext cx="1298448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095744" y="126187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095744" y="1261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53328" y="1298448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540"/>
                </a:solidFill>
              </a:rPr>
              <a:t>✂️ Compound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540"/>
                </a:solidFill>
              </a:rPr>
              <a:t>Tokenizer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053328" y="2048256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475569"/>
                </a:solidFill>
              </a:rPr>
              <a:t>merge table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475569"/>
                </a:solidFill>
              </a:rPr>
              <a:t>5K+ entries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2441448"/>
            <a:ext cx="969264" cy="1828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17920" y="2441448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 err="1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nlp_pipeline.p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370064" y="1929384"/>
            <a:ext cx="10972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498080" y="1207008"/>
            <a:ext cx="1298448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498080" y="1207008"/>
            <a:ext cx="1298448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540496" y="126187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540496" y="1261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498080" y="1298448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540"/>
                </a:solidFill>
              </a:rPr>
              <a:t>🤟 Sign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0A2540"/>
                </a:solidFill>
              </a:rPr>
              <a:t>Display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498080" y="2048256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475569"/>
                </a:solidFill>
              </a:rPr>
              <a:t>355 คำ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475569"/>
                </a:solidFill>
              </a:rPr>
              <a:t>14 หมวด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662672" y="2441448"/>
            <a:ext cx="969264" cy="1828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662672" y="2441448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57200" y="27889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ไฟล์หลักที่เกี่ยวข้อง: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457200" y="3108960"/>
            <a:ext cx="2011680" cy="51206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57200" y="3108960"/>
            <a:ext cx="20116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30352" y="3145536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app.py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30352" y="3346704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UI + STT controller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2633472" y="3108960"/>
            <a:ext cx="2011680" cy="51206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633472" y="3108960"/>
            <a:ext cx="2011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706624" y="3145536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intent_data.py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2706624" y="3346704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52 intents, 500+ synonyms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4809744" y="3108960"/>
            <a:ext cx="2011680" cy="51206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809744" y="3108960"/>
            <a:ext cx="201168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882896" y="3145536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nlp_pipeline.py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4882896" y="3346704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tokenizer + merge engine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6986016" y="3108960"/>
            <a:ext cx="2011680" cy="51206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986016" y="3108960"/>
            <a:ext cx="20116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059168" y="3145536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sign_data.py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7059168" y="3346704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355 signs + rules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274320" y="3749040"/>
            <a:ext cx="859536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11480" y="37856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ตัวอย่างการไหลของข้อมูล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411480" y="4069080"/>
            <a:ext cx="16002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CDE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🎙️ </a:t>
            </a:r>
            <a:endParaRPr lang="th-TH" sz="1400" dirty="0">
              <a:solidFill>
                <a:srgbClr val="AECDE8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CDE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"รับประทานยาวันละ 2 </a:t>
            </a:r>
            <a:r>
              <a:rPr lang="th-TH" sz="1400" dirty="0">
                <a:solidFill>
                  <a:srgbClr val="AECDE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มื้อ</a:t>
            </a:r>
            <a:r>
              <a:rPr lang="en-US" sz="1400" dirty="0">
                <a:solidFill>
                  <a:srgbClr val="AECDE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"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2020824" y="4480560"/>
            <a:ext cx="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093976" y="4069080"/>
            <a:ext cx="16002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CDE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→ Whisper: </a:t>
            </a:r>
            <a:endParaRPr lang="th-TH" sz="1400" dirty="0">
              <a:solidFill>
                <a:srgbClr val="AECDE8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CDE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"รับประทานยาวันละ 2 </a:t>
            </a:r>
            <a:r>
              <a:rPr lang="th-TH" sz="1400" dirty="0">
                <a:solidFill>
                  <a:srgbClr val="AECDE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มื้อ</a:t>
            </a:r>
            <a:r>
              <a:rPr lang="en-US" sz="1400" dirty="0">
                <a:solidFill>
                  <a:srgbClr val="AECDE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"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3703320" y="4480560"/>
            <a:ext cx="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776472" y="4069080"/>
            <a:ext cx="16002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5D6A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→ Simplify: </a:t>
            </a:r>
            <a:endParaRPr lang="th-TH" sz="1400" dirty="0">
              <a:solidFill>
                <a:srgbClr val="A5D6A7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5D6A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“</a:t>
            </a:r>
            <a:r>
              <a:rPr lang="th-TH" sz="1400" dirty="0">
                <a:solidFill>
                  <a:srgbClr val="A5D6A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กินยา วันละ </a:t>
            </a:r>
            <a:r>
              <a:rPr lang="en-US" sz="1400" dirty="0">
                <a:solidFill>
                  <a:srgbClr val="A5D6A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r>
              <a:rPr lang="th-TH" sz="1400" dirty="0">
                <a:solidFill>
                  <a:srgbClr val="A5D6A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มื้อ</a:t>
            </a:r>
            <a:r>
              <a:rPr lang="en-US" sz="1400" dirty="0">
                <a:solidFill>
                  <a:srgbClr val="A5D6A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”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5385816" y="4480560"/>
            <a:ext cx="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5458968" y="4069080"/>
            <a:ext cx="172821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EF3C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→ Intent: </a:t>
            </a:r>
            <a:endParaRPr lang="th-TH" sz="1400" dirty="0">
              <a:solidFill>
                <a:srgbClr val="FEF3C7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 err="1">
                <a:solidFill>
                  <a:srgbClr val="FEF3C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รับประทาน</a:t>
            </a:r>
            <a:r>
              <a:rPr lang="th-TH" sz="1400" dirty="0">
                <a:solidFill>
                  <a:srgbClr val="FEF3C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400" dirty="0">
                <a:solidFill>
                  <a:srgbClr val="FEF3C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→</a:t>
            </a:r>
            <a:r>
              <a:rPr lang="th-TH" sz="1400" dirty="0">
                <a:solidFill>
                  <a:srgbClr val="FEF3C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400" dirty="0">
                <a:solidFill>
                  <a:srgbClr val="FEF3C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EAT</a:t>
            </a:r>
            <a:r>
              <a:rPr lang="th-TH" sz="1400" dirty="0">
                <a:solidFill>
                  <a:srgbClr val="FEF3C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400" dirty="0">
                <a:solidFill>
                  <a:srgbClr val="FEF3C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→</a:t>
            </a:r>
            <a:r>
              <a:rPr lang="th-TH" sz="1400" dirty="0">
                <a:solidFill>
                  <a:srgbClr val="FEF3C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400" dirty="0" err="1">
                <a:solidFill>
                  <a:srgbClr val="FEF3C7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กิน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7068312" y="4480560"/>
            <a:ext cx="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7141464" y="4069080"/>
            <a:ext cx="18562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B9F6C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→ Signs: </a:t>
            </a:r>
            <a:r>
              <a:rPr lang="en-US" sz="1100" dirty="0">
                <a:solidFill>
                  <a:srgbClr val="B9F6CA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🍽️💊2️⃣🔢🔁 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TH SarabunPSK" panose="020B0500040200020003" pitchFamily="34" charset="-34"/>
                <a:ea typeface="Calibri" pitchFamily="34" charset="-122"/>
                <a:cs typeface="TH SarabunPSK" panose="020B0500040200020003" pitchFamily="34" charset="-34"/>
              </a:rPr>
              <a:t>Stage 1 — Audio Input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3822192" cy="310896"/>
          </a:xfrm>
          <a:prstGeom prst="roundRect">
            <a:avLst>
              <a:gd name="adj" fmla="val 3529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58952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การรับสัญญาณเสียงและเตรียมข้อมูล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41605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0292" cy="3611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วิธีการรับเสียง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4389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🎙️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68249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st.audio_input()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51560" y="1938528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Streamlit built-in mic recorder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กดเริ่ม</a:t>
            </a: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→ พูด → กดหยุด → กด 'ถอดเสียง'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รองรับ WAV format โดยตรง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2670048"/>
            <a:ext cx="4389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68833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File Upload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51560" y="290779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อัพโหลด .wav .mp3 .m4a .webm .ogg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ใช้กับ audio ที่อัดไว้แล้ว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รองรับ ffmpeg ในการแปลง format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4389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⌨️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369417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Text Input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51560" y="391363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พิมพ์ข้อความโดยตรง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ข้ามขั้นตอน STT ทั้งหมด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ใช้สำหรับทดสอบ NLP pipeline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00600" y="1207008"/>
            <a:ext cx="38862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1207008"/>
            <a:ext cx="50292" cy="1719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1298448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Audio Pre-processing</a:t>
            </a:r>
            <a:endParaRPr lang="en-US" sz="13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937760" y="1700784"/>
            <a:ext cx="361188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65192" y="1764792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1.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12080" y="17007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WAV → numpy array (16kHz mono)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37760" y="1938528"/>
            <a:ext cx="361188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65192" y="2007108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2.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12080" y="193852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ffmpeg แปลง format ถ้าจำเป็น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937760" y="2176272"/>
            <a:ext cx="361188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65192" y="2238375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3.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12080" y="21762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save ลง tempfile ชั่วคราว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937760" y="2414016"/>
            <a:ext cx="361188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65192" y="2473071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4.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12080" y="241401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ส่งต่อ path ให้ Whisper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937760" y="2651760"/>
            <a:ext cx="361188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65192" y="2720340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5.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12080" y="265176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ลบ tempfile หลัง transcribe เสร็จ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800600" y="3035808"/>
            <a:ext cx="3886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00600" y="3035808"/>
            <a:ext cx="50292" cy="1783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0" y="3127248"/>
            <a:ext cx="3611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Supported Audio Formats</a:t>
            </a:r>
            <a:endParaRPr lang="en-US" sz="13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937760" y="3511296"/>
            <a:ext cx="3611880" cy="237744"/>
          </a:xfrm>
          <a:prstGeom prst="rect">
            <a:avLst/>
          </a:prstGeom>
          <a:solidFill>
            <a:srgbClr val="D1FAE5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983480" y="3538728"/>
            <a:ext cx="457200" cy="18288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983480" y="35387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WAV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468112" y="3511296"/>
            <a:ext cx="3035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ดีที่สุด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937760" y="3767328"/>
            <a:ext cx="3611880" cy="23774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983480" y="3794760"/>
            <a:ext cx="457200" cy="182880"/>
          </a:xfrm>
          <a:prstGeom prst="roundRect">
            <a:avLst>
              <a:gd name="adj" fmla="val 25000"/>
            </a:avLst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983480" y="3794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MP3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468112" y="3767328"/>
            <a:ext cx="3035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รองรับ</a:t>
            </a:r>
            <a:r>
              <a:rPr lang="en-US" sz="95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— </a:t>
            </a:r>
            <a:r>
              <a:rPr lang="en-US" sz="950" dirty="0" err="1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ผ่าน</a:t>
            </a:r>
            <a:r>
              <a:rPr lang="en-US" sz="95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ffmpeg</a:t>
            </a:r>
            <a:r>
              <a:rPr lang="en-US" sz="95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convert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937760" y="4023360"/>
            <a:ext cx="3611880" cy="23774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983480" y="4050792"/>
            <a:ext cx="457200" cy="182880"/>
          </a:xfrm>
          <a:prstGeom prst="roundRect">
            <a:avLst>
              <a:gd name="adj" fmla="val 25000"/>
            </a:avLst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983480" y="405079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M4A</a:t>
            </a:r>
            <a:endParaRPr lang="en-US" sz="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468112" y="4023360"/>
            <a:ext cx="3035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รองรับ — ไฟล์จาก iPhone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937760" y="4279392"/>
            <a:ext cx="3611880" cy="23774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983480" y="4306824"/>
            <a:ext cx="457200" cy="182880"/>
          </a:xfrm>
          <a:prstGeom prst="roundRect">
            <a:avLst>
              <a:gd name="adj" fmla="val 25000"/>
            </a:avLst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983480" y="430682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WEBM</a:t>
            </a:r>
            <a:endParaRPr lang="en-US" sz="8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468112" y="4279392"/>
            <a:ext cx="3035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รองรับ — browser recording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937760" y="4535424"/>
            <a:ext cx="3611880" cy="237744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983480" y="4562856"/>
            <a:ext cx="457200" cy="182880"/>
          </a:xfrm>
          <a:prstGeom prst="roundRect">
            <a:avLst>
              <a:gd name="adj" fmla="val 25000"/>
            </a:avLst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983480" y="45628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OGG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468112" y="4535424"/>
            <a:ext cx="3035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รองรับ — Linux/Android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TH SarabunPSK" panose="020B0500040200020003" pitchFamily="34" charset="-34"/>
                <a:ea typeface="Calibri" pitchFamily="34" charset="-122"/>
                <a:cs typeface="TH SarabunPSK" panose="020B0500040200020003" pitchFamily="34" charset="-34"/>
              </a:rPr>
              <a:t>Stage 2 — Speech-to-Text (Whisper)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5715000" cy="310896"/>
          </a:xfrm>
          <a:prstGeom prst="roundRect">
            <a:avLst>
              <a:gd name="adj" fmla="val 3529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5715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ทำไมถึงเลือก Whisper? Architecture + Configuration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4069080" cy="3901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07007"/>
            <a:ext cx="45719" cy="390143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Whisper Architecture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168249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682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66420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1. Log-Mel Spectrogram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1901952"/>
            <a:ext cx="34930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เสียงดิบ → spectrogram 80 channels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แปลง waveform เป็น visual frequency pattern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ที่ model เข้าใจได้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4360" y="246888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468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45059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2. CNN Feature Encoder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2688336"/>
            <a:ext cx="34930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compress spectrogram → dense features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ลด dimension ก่อนส่ง Transformer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เหมือน "ย่อ" ข้อมูลเสียง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4360" y="32552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255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323697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3. Transformer Encoder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3474720"/>
            <a:ext cx="34930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Multi-head attention เรียนรู้ context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ทุก frame ของเสียงสัมพันธ์กันยังไง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รู้ว่า "ยา" หลัง "กิน" = คำสั่งยา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4360" y="40416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4041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402336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4. Autoregressive Decoder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4400" y="4261104"/>
            <a:ext cx="34930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 text ทีละ token โดยใช้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previous tokens เป็น context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Beam Search (beam=5) เลือก path ดีสุด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09160" y="1207008"/>
            <a:ext cx="3977640" cy="2164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1207008"/>
            <a:ext cx="75692" cy="2164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1298448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</a:rPr>
              <a:t>Config ที่ใช้ในระบบ</a:t>
            </a:r>
            <a:endParaRPr lang="en-US" sz="1300" dirty="0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E20AB07-3A6A-076A-6455-0B4351E8F7EF}"/>
              </a:ext>
            </a:extLst>
          </p:cNvPr>
          <p:cNvGrpSpPr/>
          <p:nvPr/>
        </p:nvGrpSpPr>
        <p:grpSpPr>
          <a:xfrm>
            <a:off x="4884166" y="1580896"/>
            <a:ext cx="3703320" cy="1719072"/>
            <a:chOff x="4846320" y="1682496"/>
            <a:chExt cx="3703320" cy="1719072"/>
          </a:xfrm>
        </p:grpSpPr>
        <p:sp>
          <p:nvSpPr>
            <p:cNvPr id="27" name="Shape 25"/>
            <p:cNvSpPr/>
            <p:nvPr/>
          </p:nvSpPr>
          <p:spPr>
            <a:xfrm>
              <a:off x="4846320" y="1682496"/>
              <a:ext cx="3703320" cy="256032"/>
            </a:xfrm>
            <a:prstGeom prst="rect">
              <a:avLst/>
            </a:prstGeom>
            <a:solidFill>
              <a:srgbClr val="F1F5F9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4892040" y="1682496"/>
              <a:ext cx="12344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75569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model:</a:t>
              </a:r>
              <a:endParaRPr lang="en-US" sz="95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6144768" y="1682496"/>
              <a:ext cx="640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D948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large</a:t>
              </a:r>
              <a:endParaRPr lang="en-US" sz="95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6803136" y="1682496"/>
              <a:ext cx="171907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475569"/>
                  </a:solidFill>
                </a:rPr>
                <a:t>← แม่นยำสูงสุด WER ~8%</a:t>
              </a:r>
              <a:endParaRPr lang="en-US" sz="85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4846320" y="1975104"/>
              <a:ext cx="3703320" cy="256032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4892040" y="1975104"/>
              <a:ext cx="12344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75569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language:</a:t>
              </a:r>
              <a:endParaRPr lang="en-US" sz="95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6144768" y="1975104"/>
              <a:ext cx="640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EA5E9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"th"</a:t>
              </a:r>
              <a:endParaRPr lang="en-US" sz="95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803136" y="1975104"/>
              <a:ext cx="171907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475569"/>
                  </a:solidFill>
                </a:rPr>
                <a:t>← บังคับภาษาไทย ไม่ detect เอง</a:t>
              </a:r>
              <a:endParaRPr lang="en-US" sz="85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4846320" y="2267712"/>
              <a:ext cx="3703320" cy="256032"/>
            </a:xfrm>
            <a:prstGeom prst="rect">
              <a:avLst/>
            </a:prstGeom>
            <a:solidFill>
              <a:srgbClr val="F1F5F9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34"/>
            <p:cNvSpPr/>
            <p:nvPr/>
          </p:nvSpPr>
          <p:spPr>
            <a:xfrm>
              <a:off x="4892040" y="2267712"/>
              <a:ext cx="12344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75569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temperature:</a:t>
              </a:r>
              <a:endParaRPr lang="en-US" sz="95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6144768" y="2267712"/>
              <a:ext cx="640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8B5CF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0.0</a:t>
              </a:r>
              <a:endParaRPr lang="en-US" sz="95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803136" y="2267712"/>
              <a:ext cx="171907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475569"/>
                  </a:solidFill>
                </a:rPr>
                <a:t>← deterministic output ทุกครั้ง</a:t>
              </a:r>
              <a:endParaRPr lang="en-US" sz="85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4846320" y="2560320"/>
              <a:ext cx="3703320" cy="256032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4892040" y="2560320"/>
              <a:ext cx="12344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75569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beam_size:</a:t>
              </a:r>
              <a:endParaRPr lang="en-US" sz="95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6144768" y="2560320"/>
              <a:ext cx="640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59E0B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5</a:t>
              </a:r>
              <a:endParaRPr lang="en-US" sz="95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6803136" y="2560320"/>
              <a:ext cx="171907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475569"/>
                  </a:solidFill>
                </a:rPr>
                <a:t>← ค้นหา 5 path เลือกดีที่สุด</a:t>
              </a:r>
              <a:endParaRPr lang="en-US" sz="85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4846320" y="2852928"/>
              <a:ext cx="3703320" cy="256032"/>
            </a:xfrm>
            <a:prstGeom prst="rect">
              <a:avLst/>
            </a:prstGeom>
            <a:solidFill>
              <a:srgbClr val="F1F5F9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42"/>
            <p:cNvSpPr/>
            <p:nvPr/>
          </p:nvSpPr>
          <p:spPr>
            <a:xfrm>
              <a:off x="4892040" y="2852928"/>
              <a:ext cx="1470914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75569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initial_prompt:</a:t>
              </a:r>
              <a:endParaRPr lang="en-US" sz="95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6144767" y="2852928"/>
              <a:ext cx="767715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10B98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medical Thai</a:t>
              </a:r>
              <a:endParaRPr lang="en-US" sz="95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6803136" y="2852928"/>
              <a:ext cx="171907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475569"/>
                  </a:solidFill>
                </a:rPr>
                <a:t>← inject context คำแพทย์ไทย</a:t>
              </a:r>
              <a:endParaRPr lang="en-US" sz="85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4846320" y="3145536"/>
              <a:ext cx="3703320" cy="256032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46"/>
            <p:cNvSpPr/>
            <p:nvPr/>
          </p:nvSpPr>
          <p:spPr>
            <a:xfrm>
              <a:off x="4892039" y="3145536"/>
              <a:ext cx="1561151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475569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condition_on_prev:</a:t>
              </a:r>
              <a:endParaRPr lang="en-US" sz="95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6272403" y="3145536"/>
              <a:ext cx="640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EF4444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False</a:t>
              </a:r>
              <a:endParaRPr lang="en-US" sz="95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6803136" y="3145536"/>
              <a:ext cx="171907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i="1" dirty="0">
                  <a:solidFill>
                    <a:srgbClr val="475569"/>
                  </a:solidFill>
                </a:rPr>
                <a:t>← independent sentence ทุกครั้ง</a:t>
              </a:r>
              <a:endParaRPr lang="en-US" sz="850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7459B01-10D8-A695-ECB3-63803FAD50B6}"/>
              </a:ext>
            </a:extLst>
          </p:cNvPr>
          <p:cNvGrpSpPr/>
          <p:nvPr/>
        </p:nvGrpSpPr>
        <p:grpSpPr>
          <a:xfrm>
            <a:off x="4709160" y="3471672"/>
            <a:ext cx="3977640" cy="1636776"/>
            <a:chOff x="4709160" y="3182112"/>
            <a:chExt cx="3977640" cy="1636776"/>
          </a:xfrm>
        </p:grpSpPr>
        <p:sp>
          <p:nvSpPr>
            <p:cNvPr id="51" name="Shape 49"/>
            <p:cNvSpPr/>
            <p:nvPr/>
          </p:nvSpPr>
          <p:spPr>
            <a:xfrm>
              <a:off x="4709160" y="3182112"/>
              <a:ext cx="3977640" cy="163677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4709160" y="3182112"/>
              <a:ext cx="50292" cy="1636776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51"/>
            <p:cNvSpPr/>
            <p:nvPr/>
          </p:nvSpPr>
          <p:spPr>
            <a:xfrm>
              <a:off x="4846320" y="3273552"/>
              <a:ext cx="370332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A2540"/>
                  </a:solidFill>
                </a:rPr>
                <a:t>Whisper vs Alternatives</a:t>
              </a:r>
              <a:endParaRPr lang="en-US" sz="13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4846320" y="3639312"/>
              <a:ext cx="3703320" cy="201168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53"/>
            <p:cNvSpPr/>
            <p:nvPr/>
          </p:nvSpPr>
          <p:spPr>
            <a:xfrm>
              <a:off x="4892040" y="3639312"/>
              <a:ext cx="13258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E293B"/>
                  </a:solidFill>
                </a:rPr>
                <a:t>Whisper large</a:t>
              </a:r>
              <a:endParaRPr lang="en-US" sz="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6236208" y="3639312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0B981"/>
                  </a:solidFill>
                </a:rPr>
                <a:t>✅ WER 8%, Thai native, offline</a:t>
              </a:r>
              <a:endParaRPr lang="en-US" sz="85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4846320" y="3858768"/>
              <a:ext cx="3703320" cy="201168"/>
            </a:xfrm>
            <a:prstGeom prst="rect">
              <a:avLst/>
            </a:prstGeom>
            <a:solidFill>
              <a:srgbClr val="FEE2E2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56"/>
            <p:cNvSpPr/>
            <p:nvPr/>
          </p:nvSpPr>
          <p:spPr>
            <a:xfrm>
              <a:off x="4892040" y="3858768"/>
              <a:ext cx="13258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</a:rPr>
                <a:t>Google STT API</a:t>
              </a:r>
              <a:endParaRPr lang="en-US" sz="9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6236208" y="3858768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75569"/>
                  </a:solidFill>
                </a:rPr>
                <a:t>❌ WER 12%, ต้อง internet, ค่าใช้จ่าย</a:t>
              </a:r>
              <a:endParaRPr lang="en-US" sz="85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4846320" y="4078224"/>
              <a:ext cx="3703320" cy="201168"/>
            </a:xfrm>
            <a:prstGeom prst="rect">
              <a:avLst/>
            </a:prstGeom>
            <a:solidFill>
              <a:srgbClr val="FEE2E2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 59"/>
            <p:cNvSpPr/>
            <p:nvPr/>
          </p:nvSpPr>
          <p:spPr>
            <a:xfrm>
              <a:off x="4892040" y="4078224"/>
              <a:ext cx="13258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</a:rPr>
                <a:t>DeepSpeech</a:t>
              </a:r>
              <a:endParaRPr lang="en-US" sz="90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6236208" y="4078224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75569"/>
                  </a:solidFill>
                </a:rPr>
                <a:t>❌ ไม่รองรับภาษาไทยเลย</a:t>
              </a:r>
              <a:endParaRPr lang="en-US" sz="85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4846320" y="4297680"/>
              <a:ext cx="3703320" cy="201168"/>
            </a:xfrm>
            <a:prstGeom prst="rect">
              <a:avLst/>
            </a:prstGeom>
            <a:solidFill>
              <a:srgbClr val="FEF3C7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 62"/>
            <p:cNvSpPr/>
            <p:nvPr/>
          </p:nvSpPr>
          <p:spPr>
            <a:xfrm>
              <a:off x="4892040" y="4297680"/>
              <a:ext cx="13258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</a:rPr>
                <a:t>Wav2Vec2-Thai</a:t>
              </a:r>
              <a:endParaRPr lang="en-US" sz="9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6236208" y="4297680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75569"/>
                  </a:solidFill>
                </a:rPr>
                <a:t>⚠️ ต้อง fine-tune corpus ใหม่</a:t>
              </a:r>
              <a:endParaRPr lang="en-US" sz="85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4846320" y="4517136"/>
              <a:ext cx="3703320" cy="201168"/>
            </a:xfrm>
            <a:prstGeom prst="rect">
              <a:avLst/>
            </a:prstGeom>
            <a:solidFill>
              <a:srgbClr val="FEE2E2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 65"/>
            <p:cNvSpPr/>
            <p:nvPr/>
          </p:nvSpPr>
          <p:spPr>
            <a:xfrm>
              <a:off x="4892040" y="4517136"/>
              <a:ext cx="13258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</a:rPr>
                <a:t>Azure STT</a:t>
              </a:r>
              <a:endParaRPr lang="en-US" sz="90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6236208" y="4517136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475569"/>
                  </a:solidFill>
                </a:rPr>
                <a:t>❌ ค่าใช้จ่าย + privacy hospital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TH SarabunPSK" panose="020B0500040200020003" pitchFamily="34" charset="-34"/>
                <a:ea typeface="Calibri" pitchFamily="34" charset="-122"/>
                <a:cs typeface="TH SarabunPSK" panose="020B0500040200020003" pitchFamily="34" charset="-34"/>
              </a:rPr>
              <a:t>Stage 3 — Preprocess + Lexical Simplification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6135624" cy="310896"/>
          </a:xfrm>
          <a:prstGeom prst="roundRect">
            <a:avLst>
              <a:gd name="adj" fmla="val 3529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5488" y="744755"/>
            <a:ext cx="6135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ทำความสะอาด + แปลงภาษาทางการ → </a:t>
            </a:r>
            <a:r>
              <a:rPr lang="en-US" sz="1400" b="1" dirty="0" err="1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ภาษาง่าย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48056" y="1197864"/>
            <a:ext cx="411480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0292" cy="38221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29844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Stage 3A — Text Preprocessing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492A301-77A0-0BC5-4355-11687D137287}"/>
              </a:ext>
            </a:extLst>
          </p:cNvPr>
          <p:cNvGrpSpPr/>
          <p:nvPr/>
        </p:nvGrpSpPr>
        <p:grpSpPr>
          <a:xfrm>
            <a:off x="612648" y="1545336"/>
            <a:ext cx="3858768" cy="1847088"/>
            <a:chOff x="594360" y="1682496"/>
            <a:chExt cx="3858768" cy="1847088"/>
          </a:xfrm>
        </p:grpSpPr>
        <p:sp>
          <p:nvSpPr>
            <p:cNvPr id="8" name="Shape 6"/>
            <p:cNvSpPr/>
            <p:nvPr/>
          </p:nvSpPr>
          <p:spPr>
            <a:xfrm>
              <a:off x="612648" y="1682496"/>
              <a:ext cx="3840480" cy="420624"/>
            </a:xfrm>
            <a:prstGeom prst="rect">
              <a:avLst/>
            </a:prstGeom>
            <a:solidFill>
              <a:srgbClr val="EDE9FE"/>
            </a:solidFill>
            <a:ln w="508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676656" y="1719072"/>
              <a:ext cx="3712464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A254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⚙️ ลบ punctuation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676656" y="1901952"/>
              <a:ext cx="3712464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B5CF6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["""''()] → ""</a:t>
              </a:r>
              <a:endParaRPr lang="en-US" sz="10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594360" y="2157984"/>
              <a:ext cx="3840480" cy="420624"/>
            </a:xfrm>
            <a:prstGeom prst="rect">
              <a:avLst/>
            </a:prstGeom>
            <a:solidFill>
              <a:srgbClr val="EDE9FE"/>
            </a:solidFill>
            <a:ln w="508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676656" y="2194560"/>
              <a:ext cx="3712464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A254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⚙️ ลบ ๆ (คำซ้ำ)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676656" y="2377440"/>
              <a:ext cx="3712464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B5CF6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มากๆ → มาก</a:t>
              </a:r>
              <a:endParaRPr lang="en-US" sz="10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594360" y="2633472"/>
              <a:ext cx="3840480" cy="420624"/>
            </a:xfrm>
            <a:prstGeom prst="rect">
              <a:avLst/>
            </a:prstGeom>
            <a:solidFill>
              <a:srgbClr val="EDE9FE"/>
            </a:solidFill>
            <a:ln w="508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676656" y="2670048"/>
              <a:ext cx="3712464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A254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⚙️ collapse whitespace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676656" y="2852928"/>
              <a:ext cx="3712464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B5CF6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  ก่อน  → ก่อน</a:t>
              </a:r>
              <a:endParaRPr lang="en-US" sz="10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594360" y="3108960"/>
              <a:ext cx="3840480" cy="420624"/>
            </a:xfrm>
            <a:prstGeom prst="rect">
              <a:avLst/>
            </a:prstGeom>
            <a:solidFill>
              <a:srgbClr val="EDE9FE"/>
            </a:solidFill>
            <a:ln w="508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676656" y="3145536"/>
              <a:ext cx="3712464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A254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⚙️ strip Unicode variants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676656" y="3328416"/>
              <a:ext cx="3712464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B5CF6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normalize form NFC</a:t>
              </a:r>
              <a:endParaRPr lang="en-US" sz="10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</p:grpSp>
      <p:sp>
        <p:nvSpPr>
          <p:cNvPr id="20" name="Text 18"/>
          <p:cNvSpPr/>
          <p:nvPr/>
        </p:nvSpPr>
        <p:spPr>
          <a:xfrm>
            <a:off x="612648" y="3475683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Stage 3B — Lexical Simplification (30+ rules)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4360" y="3786579"/>
            <a:ext cx="3840480" cy="201168"/>
          </a:xfrm>
          <a:prstGeom prst="rect">
            <a:avLst/>
          </a:prstGeom>
          <a:solidFill>
            <a:srgbClr val="EDE9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" y="3786579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Polite openers: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865376" y="3786579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กรุณา / โปรด → "" (ลบออก)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4360" y="4006035"/>
            <a:ext cx="384048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" y="4006035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Medical verbs: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865376" y="4006035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งดอาหาร → ไม่กิน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94360" y="4225491"/>
            <a:ext cx="3840480" cy="201168"/>
          </a:xfrm>
          <a:prstGeom prst="rect">
            <a:avLst/>
          </a:prstGeom>
          <a:solidFill>
            <a:srgbClr val="EDE9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" y="4225491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Formal nouns: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865376" y="4225491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แพทย์ → หมอ, ยาเม็ด → ยา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" y="4444947"/>
            <a:ext cx="384048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" y="4444947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Dosage patterns: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865376" y="4444947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วันละ 2 ครั้ง → 2 </a:t>
            </a:r>
            <a:r>
              <a:rPr lang="en-US" sz="950" dirty="0" err="1">
                <a:solidFill>
                  <a:srgbClr val="1E293B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ครั้ง</a:t>
            </a:r>
            <a:r>
              <a:rPr lang="en-US" sz="950" dirty="0">
                <a:solidFill>
                  <a:srgbClr val="1E293B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 </a:t>
            </a:r>
            <a:r>
              <a:rPr lang="en-US" sz="950" dirty="0" err="1">
                <a:solidFill>
                  <a:srgbClr val="1E293B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ทุกวัน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94360" y="4664403"/>
            <a:ext cx="3840480" cy="201168"/>
          </a:xfrm>
          <a:prstGeom prst="rect">
            <a:avLst/>
          </a:prstGeom>
          <a:solidFill>
            <a:srgbClr val="EDE9FE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8368" y="4664403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Connectors: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865376" y="4664403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ที่ / ของ / คือ → ลบออก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754880" y="1207008"/>
            <a:ext cx="39319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4880" y="1207008"/>
            <a:ext cx="50292" cy="3611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10328" y="129844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Before vs After — ตัวอย่างจริง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910328" y="1682496"/>
            <a:ext cx="3657600" cy="69494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997196" y="174530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IN: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326380" y="174530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กรุณางดอาหารก่อนเข้ารับการตรวจ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937760" y="1975104"/>
            <a:ext cx="35661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74336" y="2065342"/>
            <a:ext cx="4762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OUT: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376672" y="206534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ไม่กินก่อนตรวจ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863840" y="20299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10%</a:t>
            </a:r>
            <a:endParaRPr lang="en-US" sz="1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892040" y="2432304"/>
            <a:ext cx="3657600" cy="69494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10912" y="2501365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IN: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340096" y="2501365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รับประทานยาเม็ดวันละ 2 ครั้ง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937760" y="2724912"/>
            <a:ext cx="35661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997196" y="2816352"/>
            <a:ext cx="49449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OUT: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399532" y="281635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กินยา 2 ครั้ง ทุกวัน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910328" y="3182112"/>
            <a:ext cx="3657600" cy="69494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029200" y="323697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IN: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358384" y="323697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โปรดแจ้งให้ทราบหากมีอาการปวด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937760" y="3474720"/>
            <a:ext cx="35661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010912" y="3557016"/>
            <a:ext cx="4434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OUT: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413248" y="355701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บอกปวด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4892040" y="3931920"/>
            <a:ext cx="3657600" cy="69494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001768" y="398221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IN: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5330952" y="398221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แพทย์จะมาตรวจในตอนเช้าพรุ่งนี้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4937760" y="4224528"/>
            <a:ext cx="35661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974336" y="4306824"/>
            <a:ext cx="4983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OUT: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5376672" y="430682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หมอมาตรวจเช้าพรุ่งนี้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4937760" y="4974336"/>
            <a:ext cx="356616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845552" y="502920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10%</a:t>
            </a:r>
            <a:endParaRPr lang="en-US" sz="1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73">
            <a:extLst>
              <a:ext uri="{FF2B5EF4-FFF2-40B4-BE49-F238E27FC236}">
                <a16:creationId xmlns:a16="http://schemas.microsoft.com/office/drawing/2014/main" id="{74E41D61-F5B6-E221-F68E-485CAA0501B7}"/>
              </a:ext>
            </a:extLst>
          </p:cNvPr>
          <p:cNvSpPr/>
          <p:nvPr/>
        </p:nvSpPr>
        <p:spPr>
          <a:xfrm>
            <a:off x="468630" y="4756446"/>
            <a:ext cx="8262928" cy="3840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A2540"/>
                </a:solidFill>
                <a:latin typeface="TH SarabunPSK" panose="020B0500040200020003" pitchFamily="34" charset="-34"/>
                <a:ea typeface="Calibri" pitchFamily="34" charset="-122"/>
                <a:cs typeface="TH SarabunPSK" panose="020B0500040200020003" pitchFamily="34" charset="-34"/>
              </a:rPr>
              <a:t>Stage 4 — Intent Resolution </a:t>
            </a:r>
            <a:endParaRPr lang="en-US" sz="3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6556248" cy="310896"/>
          </a:xfrm>
          <a:prstGeom prst="roundRect">
            <a:avLst>
              <a:gd name="adj" fmla="val 3529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6556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คำพ้องความหมาย</a:t>
            </a: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→ Intent → คำมาตรฐาน → Sign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4114800" cy="12161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0292" cy="1216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3504" y="123973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❌ ปัญหาก่อนมี Intent Resolution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4078" y="150418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Whisper อาจถอดเสียงได้หลายรูปแบบ:</a:t>
            </a:r>
            <a:endParaRPr lang="en-US" sz="1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"รับประทาน" / "ทาน" / "กิน" / "บริโภค" / "กลืน"</a:t>
            </a:r>
            <a:endParaRPr lang="en-US" sz="1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→ NLP ก่อนหน้าหาคำใน SIGN_DICT ได้แค่ 'กิน' เท่านั้น</a:t>
            </a:r>
            <a:endParaRPr lang="en-US" sz="1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→ คำอื่นทั้งหมด → ❓ (missed sign coverage)</a:t>
            </a:r>
            <a:endParaRPr lang="en-US" sz="1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8630" y="2528316"/>
            <a:ext cx="4114800" cy="21351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8630" y="2528316"/>
            <a:ext cx="45719" cy="21351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5780" y="259461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✅ วิธีแก้: 4-Layer Lookup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5790" y="299008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5790" y="2990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98398" y="29718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SYNONYM_MAP (reverse lookup)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98398" y="319125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500+ คำ → intent name</a:t>
            </a: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สร้างอัตโนมัติจาก INTENT_DICT</a:t>
            </a: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ตัวอย่าง: 'รับประทาน' → ‘</a:t>
            </a:r>
            <a:r>
              <a:rPr lang="th-TH" sz="9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กิน</a:t>
            </a:r>
            <a:r>
              <a:rPr lang="en-US" sz="9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'</a:t>
            </a: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8076" y="373075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0362" y="3721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00684" y="37124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INTENT_DICT → canonical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00684" y="393192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EAT → canonical: 'กิน'</a:t>
            </a: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เป็น standard form ของ intent นั้น</a:t>
            </a: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522982" y="298611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A59BFCC-7EB9-06B3-D383-4092A9F6827A}"/>
              </a:ext>
            </a:extLst>
          </p:cNvPr>
          <p:cNvGrpSpPr/>
          <p:nvPr/>
        </p:nvGrpSpPr>
        <p:grpSpPr>
          <a:xfrm>
            <a:off x="2535174" y="2967830"/>
            <a:ext cx="3858768" cy="640080"/>
            <a:chOff x="605790" y="4251960"/>
            <a:chExt cx="3858768" cy="640080"/>
          </a:xfrm>
        </p:grpSpPr>
        <p:sp>
          <p:nvSpPr>
            <p:cNvPr id="21" name="Text 19"/>
            <p:cNvSpPr/>
            <p:nvPr/>
          </p:nvSpPr>
          <p:spPr>
            <a:xfrm>
              <a:off x="605790" y="4270248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3</a:t>
              </a:r>
              <a:endParaRPr lang="en-US" sz="9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898398" y="4251960"/>
              <a:ext cx="35661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A254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canonical → sign_key</a:t>
              </a:r>
              <a:endParaRPr lang="en-US" sz="105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898398" y="4471416"/>
              <a:ext cx="3566160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EAT → sign_key: 'กิน'</a:t>
              </a:r>
              <a:endParaRPr lang="en-US" sz="9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key นี้ใช้ lookup ใน SIGN_DICT</a:t>
              </a:r>
              <a:endParaRPr lang="en-US" sz="9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E2F2E91-BC6E-D424-8413-E8D3AE6ABF56}"/>
              </a:ext>
            </a:extLst>
          </p:cNvPr>
          <p:cNvGrpSpPr/>
          <p:nvPr/>
        </p:nvGrpSpPr>
        <p:grpSpPr>
          <a:xfrm>
            <a:off x="2544318" y="3739896"/>
            <a:ext cx="3867912" cy="640080"/>
            <a:chOff x="2585466" y="2951226"/>
            <a:chExt cx="3867912" cy="640080"/>
          </a:xfrm>
        </p:grpSpPr>
        <p:sp>
          <p:nvSpPr>
            <p:cNvPr id="24" name="Shape 22"/>
            <p:cNvSpPr/>
            <p:nvPr/>
          </p:nvSpPr>
          <p:spPr>
            <a:xfrm>
              <a:off x="2585466" y="2990661"/>
              <a:ext cx="237744" cy="237744"/>
            </a:xfrm>
            <a:prstGeom prst="roundRect">
              <a:avLst>
                <a:gd name="adj" fmla="val 23077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2585466" y="2994971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4</a:t>
              </a:r>
              <a:endParaRPr lang="en-US" sz="9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2887218" y="2951226"/>
              <a:ext cx="35661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A254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SIGN_DICT → video + emoji</a:t>
              </a:r>
              <a:endParaRPr lang="en-US" sz="105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2887218" y="3170682"/>
              <a:ext cx="3566160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900" dirty="0">
                  <a:solidFill>
                    <a:srgbClr val="475569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'กิน' → 🍽️ + gin.mp4</a:t>
              </a:r>
              <a:endParaRPr lang="en-US" sz="9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900" dirty="0">
                  <a:solidFill>
                    <a:srgbClr val="475569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ดึง clip ภาษามือออกมาแสดง</a:t>
              </a:r>
              <a:endParaRPr lang="en-US" sz="9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</p:grpSp>
      <p:sp>
        <p:nvSpPr>
          <p:cNvPr id="28" name="Shape 26"/>
          <p:cNvSpPr/>
          <p:nvPr/>
        </p:nvSpPr>
        <p:spPr>
          <a:xfrm>
            <a:off x="4754880" y="1207008"/>
            <a:ext cx="3931920" cy="12161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54880" y="1207008"/>
            <a:ext cx="45719" cy="1216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92040" y="129844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Intent Dictionary Stats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92040" y="16824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TH SarabunPSK" panose="020B0500040200020003" pitchFamily="34" charset="-34"/>
                <a:ea typeface="Calibri" pitchFamily="34" charset="-122"/>
                <a:cs typeface="TH SarabunPSK" panose="020B0500040200020003" pitchFamily="34" charset="-34"/>
              </a:rPr>
              <a:t>52</a:t>
            </a:r>
            <a:endParaRPr lang="en-US" sz="2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92040" y="20299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intents รวม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61304" y="16824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TH SarabunPSK" panose="020B0500040200020003" pitchFamily="34" charset="-34"/>
                <a:ea typeface="Calibri" pitchFamily="34" charset="-122"/>
                <a:cs typeface="TH SarabunPSK" panose="020B0500040200020003" pitchFamily="34" charset="-34"/>
              </a:rPr>
              <a:t>8</a:t>
            </a:r>
            <a:endParaRPr lang="en-US" sz="2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861304" y="20299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categories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830568" y="16824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5CF6"/>
                </a:solidFill>
                <a:latin typeface="TH SarabunPSK" panose="020B0500040200020003" pitchFamily="34" charset="-34"/>
                <a:ea typeface="Calibri" pitchFamily="34" charset="-122"/>
                <a:cs typeface="TH SarabunPSK" panose="020B0500040200020003" pitchFamily="34" charset="-34"/>
              </a:rPr>
              <a:t>500+</a:t>
            </a:r>
            <a:endParaRPr lang="en-US" sz="2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30568" y="20299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synonyms รวม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799832" y="16824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TH SarabunPSK" panose="020B0500040200020003" pitchFamily="34" charset="-34"/>
                <a:ea typeface="Calibri" pitchFamily="34" charset="-122"/>
                <a:cs typeface="TH SarabunPSK" panose="020B0500040200020003" pitchFamily="34" charset="-34"/>
              </a:rPr>
              <a:t>auto</a:t>
            </a:r>
            <a:endParaRPr lang="en-US" sz="2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799832" y="20299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SYNONYM_MAP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B8B3FB0-2497-6B35-02C8-6916DB007A70}"/>
              </a:ext>
            </a:extLst>
          </p:cNvPr>
          <p:cNvGrpSpPr/>
          <p:nvPr/>
        </p:nvGrpSpPr>
        <p:grpSpPr>
          <a:xfrm>
            <a:off x="4777739" y="2551176"/>
            <a:ext cx="3931920" cy="2112264"/>
            <a:chOff x="4754880" y="2706624"/>
            <a:chExt cx="3931920" cy="2112264"/>
          </a:xfrm>
        </p:grpSpPr>
        <p:sp>
          <p:nvSpPr>
            <p:cNvPr id="39" name="Shape 37"/>
            <p:cNvSpPr/>
            <p:nvPr/>
          </p:nvSpPr>
          <p:spPr>
            <a:xfrm>
              <a:off x="4754880" y="2706624"/>
              <a:ext cx="3931920" cy="21122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4754880" y="2706624"/>
              <a:ext cx="50292" cy="2112264"/>
            </a:xfrm>
            <a:prstGeom prst="rect">
              <a:avLst/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4892040" y="2798064"/>
              <a:ext cx="36576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A254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8 Intent Categories</a:t>
              </a:r>
              <a:endParaRPr lang="en-US" sz="14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4892040" y="3182112"/>
              <a:ext cx="3657600" cy="182880"/>
            </a:xfrm>
            <a:prstGeom prst="rect">
              <a:avLst/>
            </a:prstGeom>
            <a:solidFill>
              <a:srgbClr val="F1F5F9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4919472" y="3200400"/>
              <a:ext cx="502920" cy="146304"/>
            </a:xfrm>
            <a:prstGeom prst="roundRect">
              <a:avLst>
                <a:gd name="adj" fmla="val 25000"/>
              </a:avLst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 sz="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4919472" y="3200400"/>
              <a:ext cx="50292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action</a:t>
              </a:r>
              <a:endParaRPr lang="en-US" sz="7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5449824" y="3182112"/>
              <a:ext cx="27432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293B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EAT, DRINK, FAST, SLEEP, WALK</a:t>
              </a:r>
              <a:endParaRPr lang="en-US" sz="8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8211312" y="3182112"/>
              <a:ext cx="310896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b="1" dirty="0">
                  <a:solidFill>
                    <a:srgbClr val="8B5CF6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12</a:t>
              </a:r>
              <a:endParaRPr lang="en-US" sz="8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4892040" y="3383280"/>
              <a:ext cx="3657600" cy="18288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 sz="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4919472" y="3401568"/>
              <a:ext cx="502920" cy="146304"/>
            </a:xfrm>
            <a:prstGeom prst="roundRect">
              <a:avLst>
                <a:gd name="adj" fmla="val 25000"/>
              </a:avLst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4919472" y="3401568"/>
              <a:ext cx="50292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symptom</a:t>
              </a:r>
              <a:endParaRPr lang="en-US" sz="8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0" name="Text 48"/>
            <p:cNvSpPr/>
            <p:nvPr/>
          </p:nvSpPr>
          <p:spPr>
            <a:xfrm>
              <a:off x="5449824" y="3383280"/>
              <a:ext cx="27432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293B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PAIN, FEVER, NAUSEA, DIZZY</a:t>
              </a:r>
              <a:endParaRPr lang="en-US" sz="8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1" name="Text 49"/>
            <p:cNvSpPr/>
            <p:nvPr/>
          </p:nvSpPr>
          <p:spPr>
            <a:xfrm>
              <a:off x="8211312" y="3383280"/>
              <a:ext cx="310896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8B5CF6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10</a:t>
              </a:r>
              <a:endParaRPr lang="en-US" sz="9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2" name="Shape 50"/>
            <p:cNvSpPr/>
            <p:nvPr/>
          </p:nvSpPr>
          <p:spPr>
            <a:xfrm>
              <a:off x="4892040" y="3584448"/>
              <a:ext cx="3657600" cy="182880"/>
            </a:xfrm>
            <a:prstGeom prst="rect">
              <a:avLst/>
            </a:prstGeom>
            <a:solidFill>
              <a:srgbClr val="F1F5F9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 sz="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3" name="Shape 51"/>
            <p:cNvSpPr/>
            <p:nvPr/>
          </p:nvSpPr>
          <p:spPr>
            <a:xfrm>
              <a:off x="4919472" y="3602736"/>
              <a:ext cx="502920" cy="146304"/>
            </a:xfrm>
            <a:prstGeom prst="roundRect">
              <a:avLst>
                <a:gd name="adj" fmla="val 25000"/>
              </a:avLst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4" name="Text 52"/>
            <p:cNvSpPr/>
            <p:nvPr/>
          </p:nvSpPr>
          <p:spPr>
            <a:xfrm>
              <a:off x="4919472" y="3602736"/>
              <a:ext cx="50292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medical</a:t>
              </a:r>
              <a:endParaRPr lang="en-US" sz="8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5" name="Text 53"/>
            <p:cNvSpPr/>
            <p:nvPr/>
          </p:nvSpPr>
          <p:spPr>
            <a:xfrm>
              <a:off x="5449824" y="3584448"/>
              <a:ext cx="27432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293B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XRAY, BLOOD_TEST, SURGERY</a:t>
              </a:r>
              <a:endParaRPr lang="en-US" sz="8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6" name="Text 54"/>
            <p:cNvSpPr/>
            <p:nvPr/>
          </p:nvSpPr>
          <p:spPr>
            <a:xfrm>
              <a:off x="8211312" y="3584448"/>
              <a:ext cx="310896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8B5CF6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8</a:t>
              </a:r>
              <a:endParaRPr lang="en-US" sz="9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7" name="Shape 55"/>
            <p:cNvSpPr/>
            <p:nvPr/>
          </p:nvSpPr>
          <p:spPr>
            <a:xfrm>
              <a:off x="4892040" y="3785616"/>
              <a:ext cx="3657600" cy="18288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8" name="Shape 56"/>
            <p:cNvSpPr/>
            <p:nvPr/>
          </p:nvSpPr>
          <p:spPr>
            <a:xfrm>
              <a:off x="4919472" y="3803904"/>
              <a:ext cx="502920" cy="146304"/>
            </a:xfrm>
            <a:prstGeom prst="roundRect">
              <a:avLst>
                <a:gd name="adj" fmla="val 25000"/>
              </a:avLst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9" name="Text 57"/>
            <p:cNvSpPr/>
            <p:nvPr/>
          </p:nvSpPr>
          <p:spPr>
            <a:xfrm>
              <a:off x="4919472" y="3803904"/>
              <a:ext cx="50292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modifier</a:t>
              </a:r>
              <a:endParaRPr lang="en-US" sz="8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0" name="Text 58"/>
            <p:cNvSpPr/>
            <p:nvPr/>
          </p:nvSpPr>
          <p:spPr>
            <a:xfrm>
              <a:off x="5449824" y="3785616"/>
              <a:ext cx="27432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293B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MUST, FORBID, CAUTION, MORE</a:t>
              </a:r>
              <a:endParaRPr lang="en-US" sz="8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1" name="Text 59"/>
            <p:cNvSpPr/>
            <p:nvPr/>
          </p:nvSpPr>
          <p:spPr>
            <a:xfrm>
              <a:off x="8211312" y="3785616"/>
              <a:ext cx="310896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b="1" dirty="0">
                  <a:solidFill>
                    <a:srgbClr val="8B5CF6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8</a:t>
              </a:r>
              <a:endParaRPr lang="en-US" sz="8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2" name="Shape 60"/>
            <p:cNvSpPr/>
            <p:nvPr/>
          </p:nvSpPr>
          <p:spPr>
            <a:xfrm>
              <a:off x="4892040" y="3986784"/>
              <a:ext cx="3657600" cy="182880"/>
            </a:xfrm>
            <a:prstGeom prst="rect">
              <a:avLst/>
            </a:prstGeom>
            <a:solidFill>
              <a:srgbClr val="F1F5F9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 sz="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3" name="Shape 61"/>
            <p:cNvSpPr/>
            <p:nvPr/>
          </p:nvSpPr>
          <p:spPr>
            <a:xfrm>
              <a:off x="4919472" y="4005072"/>
              <a:ext cx="502920" cy="146304"/>
            </a:xfrm>
            <a:prstGeom prst="roundRect">
              <a:avLst>
                <a:gd name="adj" fmla="val 25000"/>
              </a:avLst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 sz="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4" name="Text 62"/>
            <p:cNvSpPr/>
            <p:nvPr/>
          </p:nvSpPr>
          <p:spPr>
            <a:xfrm>
              <a:off x="4919472" y="4005072"/>
              <a:ext cx="50292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time</a:t>
              </a:r>
              <a:endParaRPr lang="en-US" sz="7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5" name="Text 63"/>
            <p:cNvSpPr/>
            <p:nvPr/>
          </p:nvSpPr>
          <p:spPr>
            <a:xfrm>
              <a:off x="5449824" y="3986784"/>
              <a:ext cx="27432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293B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MORNING, BEFORE_MEAL, TODAY</a:t>
              </a:r>
              <a:endParaRPr lang="en-US" sz="8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6" name="Text 64"/>
            <p:cNvSpPr/>
            <p:nvPr/>
          </p:nvSpPr>
          <p:spPr>
            <a:xfrm>
              <a:off x="8211312" y="3986784"/>
              <a:ext cx="310896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8B5CF6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6</a:t>
              </a:r>
              <a:endParaRPr lang="en-US" sz="9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7" name="Shape 65"/>
            <p:cNvSpPr/>
            <p:nvPr/>
          </p:nvSpPr>
          <p:spPr>
            <a:xfrm>
              <a:off x="4892040" y="4187952"/>
              <a:ext cx="3657600" cy="18288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 sz="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8" name="Shape 66"/>
            <p:cNvSpPr/>
            <p:nvPr/>
          </p:nvSpPr>
          <p:spPr>
            <a:xfrm>
              <a:off x="4919472" y="4206240"/>
              <a:ext cx="502920" cy="146304"/>
            </a:xfrm>
            <a:prstGeom prst="roundRect">
              <a:avLst>
                <a:gd name="adj" fmla="val 25000"/>
              </a:avLst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 sz="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9" name="Text 67"/>
            <p:cNvSpPr/>
            <p:nvPr/>
          </p:nvSpPr>
          <p:spPr>
            <a:xfrm>
              <a:off x="4919472" y="4206240"/>
              <a:ext cx="50292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person</a:t>
              </a:r>
              <a:endParaRPr lang="en-US" sz="7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70" name="Text 68"/>
            <p:cNvSpPr/>
            <p:nvPr/>
          </p:nvSpPr>
          <p:spPr>
            <a:xfrm>
              <a:off x="5449824" y="4187952"/>
              <a:ext cx="27432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293B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DOCTOR, NURSE, PHARMACIST</a:t>
              </a:r>
              <a:endParaRPr lang="en-US" sz="8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71" name="Text 69"/>
            <p:cNvSpPr/>
            <p:nvPr/>
          </p:nvSpPr>
          <p:spPr>
            <a:xfrm>
              <a:off x="8211312" y="4187952"/>
              <a:ext cx="310896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8B5CF6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4</a:t>
              </a:r>
              <a:endParaRPr lang="en-US" sz="9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72" name="Shape 70"/>
            <p:cNvSpPr/>
            <p:nvPr/>
          </p:nvSpPr>
          <p:spPr>
            <a:xfrm>
              <a:off x="4892040" y="4389120"/>
              <a:ext cx="3657600" cy="182880"/>
            </a:xfrm>
            <a:prstGeom prst="rect">
              <a:avLst/>
            </a:prstGeom>
            <a:solidFill>
              <a:srgbClr val="F1F5F9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73" name="Shape 71"/>
            <p:cNvSpPr/>
            <p:nvPr/>
          </p:nvSpPr>
          <p:spPr>
            <a:xfrm>
              <a:off x="4919472" y="4407408"/>
              <a:ext cx="502920" cy="146304"/>
            </a:xfrm>
            <a:prstGeom prst="roundRect">
              <a:avLst>
                <a:gd name="adj" fmla="val 25000"/>
              </a:avLst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 sz="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74" name="Text 72"/>
            <p:cNvSpPr/>
            <p:nvPr/>
          </p:nvSpPr>
          <p:spPr>
            <a:xfrm>
              <a:off x="4919472" y="4407408"/>
              <a:ext cx="50292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place</a:t>
              </a:r>
              <a:endParaRPr lang="en-US" sz="7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75" name="Text 73"/>
            <p:cNvSpPr/>
            <p:nvPr/>
          </p:nvSpPr>
          <p:spPr>
            <a:xfrm>
              <a:off x="5449824" y="4389120"/>
              <a:ext cx="27432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293B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HOSPITAL, ER, WARD, PHARMACY</a:t>
              </a:r>
              <a:endParaRPr lang="en-US" sz="8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76" name="Text 74"/>
            <p:cNvSpPr/>
            <p:nvPr/>
          </p:nvSpPr>
          <p:spPr>
            <a:xfrm>
              <a:off x="8211312" y="4389120"/>
              <a:ext cx="310896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b="1" dirty="0">
                  <a:solidFill>
                    <a:srgbClr val="8B5CF6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4</a:t>
              </a:r>
              <a:endParaRPr lang="en-US" sz="8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77" name="Shape 75"/>
            <p:cNvSpPr/>
            <p:nvPr/>
          </p:nvSpPr>
          <p:spPr>
            <a:xfrm>
              <a:off x="4892040" y="4590288"/>
              <a:ext cx="3657600" cy="18288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78" name="Shape 76"/>
            <p:cNvSpPr/>
            <p:nvPr/>
          </p:nvSpPr>
          <p:spPr>
            <a:xfrm>
              <a:off x="4919472" y="4608576"/>
              <a:ext cx="502920" cy="146304"/>
            </a:xfrm>
            <a:prstGeom prst="roundRect">
              <a:avLst>
                <a:gd name="adj" fmla="val 25000"/>
              </a:avLst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 sz="8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79" name="Text 77"/>
            <p:cNvSpPr/>
            <p:nvPr/>
          </p:nvSpPr>
          <p:spPr>
            <a:xfrm>
              <a:off x="4919472" y="4608576"/>
              <a:ext cx="502920" cy="14630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question</a:t>
              </a:r>
              <a:endParaRPr lang="en-US" sz="7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80" name="Text 78"/>
            <p:cNvSpPr/>
            <p:nvPr/>
          </p:nvSpPr>
          <p:spPr>
            <a:xfrm>
              <a:off x="5449824" y="4590288"/>
              <a:ext cx="27432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293B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ASK_WHERE, ASK_PAIN_LOC</a:t>
              </a:r>
              <a:endParaRPr lang="en-US" sz="8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81" name="Text 79"/>
            <p:cNvSpPr/>
            <p:nvPr/>
          </p:nvSpPr>
          <p:spPr>
            <a:xfrm>
              <a:off x="8211312" y="4590288"/>
              <a:ext cx="310896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b="1" dirty="0">
                  <a:solidFill>
                    <a:srgbClr val="8B5CF6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5</a:t>
              </a:r>
              <a:endParaRPr lang="en-US" sz="8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0E2EC21C-1DA8-675E-0E64-ADCCFB9B9850}"/>
              </a:ext>
            </a:extLst>
          </p:cNvPr>
          <p:cNvSpPr txBox="1"/>
          <p:nvPr/>
        </p:nvSpPr>
        <p:spPr>
          <a:xfrm>
            <a:off x="514349" y="4764024"/>
            <a:ext cx="7803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900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การพูดคุยเรื่อง อาการ (</a:t>
            </a:r>
            <a:r>
              <a:rPr lang="en-US" sz="900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symptoms) </a:t>
            </a:r>
            <a:r>
              <a:rPr lang="th-TH" sz="900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และประวัติการรักษา, การอธิบาย การตรวจ (</a:t>
            </a:r>
            <a:r>
              <a:rPr lang="en-US" sz="900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medical procedures) </a:t>
            </a:r>
            <a:r>
              <a:rPr lang="th-TH" sz="900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และ ตัวเลือกการรักษา, และการให้คำแนะนำด้านสุขภาพ </a:t>
            </a:r>
            <a:r>
              <a:rPr lang="en-US" sz="900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ADA.gov</a:t>
            </a:r>
            <a:endParaRPr lang="en-US" sz="900" dirty="0">
              <a:solidFill>
                <a:schemeClr val="bg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sz="900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จากการสำรวจพบว่า 77% ของผู้ใช้ภาษามือ มีความยากลำบากในการสื่อสารกับบุคลากรโรงพยาบาล และ 33% กลับบ้านโดยไม่เข้าใจคำสั่งแพทย์ หรือรับประทานยาผิดขนาด </a:t>
            </a:r>
            <a:r>
              <a:rPr lang="en-US" sz="900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PubMed Central</a:t>
            </a:r>
            <a:endParaRPr lang="en-US" sz="900" dirty="0">
              <a:solidFill>
                <a:schemeClr val="bg1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A2540"/>
                </a:solidFill>
                <a:latin typeface="TH SarabunPSK" panose="020B0500040200020003" pitchFamily="34" charset="-34"/>
                <a:ea typeface="Calibri" pitchFamily="34" charset="-122"/>
                <a:cs typeface="TH SarabunPSK" panose="020B0500040200020003" pitchFamily="34" charset="-34"/>
              </a:rPr>
              <a:t>Stage 5 — Compound-Aware Tokenizer</a:t>
            </a:r>
            <a:endParaRPr lang="en-US" sz="3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5820156" cy="310896"/>
          </a:xfrm>
          <a:prstGeom prst="roundRect">
            <a:avLst>
              <a:gd name="adj" fmla="val 35294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5820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แก้ปัญหา</a:t>
            </a: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Thai Word Segmentation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4114800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0292" cy="13350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7492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❌ ปัญหา: Standard PyThaiNLP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เดือนนี้</a:t>
            </a:r>
            <a:endParaRPr lang="en-US" sz="1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737360" y="15361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→ เดือน + นี้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93008" y="153619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0% (ไม่เจอใน dict)</a:t>
            </a: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184708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ก่อนอาหาร</a:t>
            </a:r>
            <a:endParaRPr lang="en-US" sz="1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37360" y="184708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→ ก่อน + อาหาร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93008" y="184708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50% (เจอแค่ 1/2)</a:t>
            </a: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4360" y="21854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วัดความดัน</a:t>
            </a:r>
            <a:endParaRPr lang="en-US" sz="1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37360" y="218541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→ วัด + ความ + ดัน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93008" y="21854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33% (เจอแค่ 1/3)</a:t>
            </a: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2679192"/>
            <a:ext cx="4114800" cy="22631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2688336"/>
            <a:ext cx="50292" cy="22539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5780" y="27386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✅ วิธีแก้: 3-Layer System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35736" y="303961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Custom Vocab Injection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48868" y="3275076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ใส่ SIGN_DICT 355 คำ + INTENT synonyms 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เข้า PyThaiNLP Tokenizer </a:t>
            </a:r>
            <a:r>
              <a:rPr lang="en-US" sz="950" dirty="0" err="1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ก่อน</a:t>
            </a:r>
            <a:r>
              <a:rPr lang="en-US" sz="95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tokenize</a:t>
            </a:r>
            <a:r>
              <a:rPr lang="en-US" sz="95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95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→ engine รู้จักคำรวมตั้งแต่แรก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35736" y="363931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Build Merge Table (5,591 entries)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51916" y="3864102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auto-split ทุก compound ใน SIGN_DICT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ทุก position 2-part + 3-part</a:t>
            </a:r>
            <a:r>
              <a:rPr lang="en-US" sz="95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 </a:t>
            </a:r>
            <a:r>
              <a:rPr lang="en-US" sz="95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('เดือน','นี้') → 'เดือนนี้' เก็บใน dict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8124DF7-FB2F-F368-4323-69164354C3D9}"/>
              </a:ext>
            </a:extLst>
          </p:cNvPr>
          <p:cNvGrpSpPr/>
          <p:nvPr/>
        </p:nvGrpSpPr>
        <p:grpSpPr>
          <a:xfrm>
            <a:off x="630936" y="2980944"/>
            <a:ext cx="274320" cy="1591056"/>
            <a:chOff x="594360" y="3310128"/>
            <a:chExt cx="274320" cy="1591056"/>
          </a:xfrm>
        </p:grpSpPr>
        <p:sp>
          <p:nvSpPr>
            <p:cNvPr id="20" name="Text 18"/>
            <p:cNvSpPr/>
            <p:nvPr/>
          </p:nvSpPr>
          <p:spPr>
            <a:xfrm>
              <a:off x="594360" y="3310128"/>
              <a:ext cx="274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0B98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①</a:t>
              </a:r>
              <a:endParaRPr lang="en-US" sz="10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594360" y="3877056"/>
              <a:ext cx="274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0B98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②</a:t>
              </a:r>
              <a:endParaRPr lang="en-US" sz="10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594360" y="4443984"/>
              <a:ext cx="27432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0B98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③</a:t>
              </a:r>
              <a:endParaRPr lang="en-US" sz="10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</p:grpSp>
      <p:sp>
        <p:nvSpPr>
          <p:cNvPr id="27" name="Text 25"/>
          <p:cNvSpPr/>
          <p:nvPr/>
        </p:nvSpPr>
        <p:spPr>
          <a:xfrm>
            <a:off x="935736" y="421233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Post-Merge Pass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5256" y="4453128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scan 3-gram → 2-gram หลัง tokenize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greedy left-to-right merge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merge เฉพาะที่อยู่ใน SIGN_DICT เท่านั้น</a:t>
            </a:r>
            <a:endParaRPr lang="en-US" sz="9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54880" y="1207008"/>
            <a:ext cx="39319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54880" y="1207008"/>
            <a:ext cx="50292" cy="3611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92040" y="1298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ผลลัพธ์หลังแก้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92040" y="1645920"/>
            <a:ext cx="3657600" cy="23774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69764" y="16459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Input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76772" y="16459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Tokens ที่ได้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892040" y="1901952"/>
            <a:ext cx="3657600" cy="25603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69764" y="190195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เดือนนี้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158484" y="1901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['เดือนนี้']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973568" y="190195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892040" y="2176272"/>
            <a:ext cx="36576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969764" y="217627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วันนี้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158484" y="2176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['วันนี้']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973568" y="217627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892040" y="2450592"/>
            <a:ext cx="3657600" cy="25603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969764" y="245059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ก่อนอาหาร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158484" y="2450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['ก่อนอาหาร']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973568" y="245059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892040" y="2724912"/>
            <a:ext cx="36576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969764" y="272491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หลังอาหาร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158484" y="27249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['หลังอาหาร']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973568" y="272491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892040" y="2999232"/>
            <a:ext cx="3657600" cy="25603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969764" y="299923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ปวดหัว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158484" y="29992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['ปวดหัว']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973568" y="299923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4892040" y="3273552"/>
            <a:ext cx="36576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4969764" y="327355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วัดความดัน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158484" y="32735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['วัดความดัน']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973568" y="327355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892040" y="3547872"/>
            <a:ext cx="3657600" cy="25603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4969764" y="354787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หายใจเข้า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158484" y="35478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['หายใจเข้า']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973568" y="354787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4892040" y="3822192"/>
            <a:ext cx="36576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4969764" y="382219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ห้องฉุกเฉิน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6158484" y="3822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['ห้องฉุกเฉิน']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7973568" y="382219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4892040" y="4096512"/>
            <a:ext cx="3657600" cy="256032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4969764" y="409651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ไม่เข้าใจ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6158484" y="4096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['ไม่เข้าใจ']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973568" y="409651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4892040" y="4370832"/>
            <a:ext cx="36576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1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4969764" y="437083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ปวดท้อง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6126480" y="4370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['ปวดท้อง']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7973568" y="437083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TH SarabunPSK" panose="020B0500040200020003" pitchFamily="34" charset="-34"/>
                <a:ea typeface="Calibri" pitchFamily="34" charset="-122"/>
                <a:cs typeface="TH SarabunPSK" panose="020B0500040200020003" pitchFamily="34" charset="-34"/>
              </a:rPr>
              <a:t>Stage 6 — Sign Mapping + Display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6135624" cy="310896"/>
          </a:xfrm>
          <a:prstGeom prst="roundRect">
            <a:avLst>
              <a:gd name="adj" fmla="val 3529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6135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355 คำ + 14 หมวด + Video Sequence Player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4114800" cy="38039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50292" cy="38039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Sign Dictionary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1627632"/>
            <a:ext cx="3840480" cy="219456"/>
          </a:xfrm>
          <a:prstGeom prst="rect">
            <a:avLst/>
          </a:prstGeom>
          <a:solidFill>
            <a:srgbClr val="D1FAE5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" y="1645920"/>
            <a:ext cx="713232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1792" y="1645920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วันเวลา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53312" y="1627632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40 คำ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810512" y="1627632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เช้า เย็น คืน วันนี้ พรุ่งนี้ เดือน ปี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4360" y="1865376"/>
            <a:ext cx="38404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" y="1883664"/>
            <a:ext cx="713232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1792" y="1883664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สถานที่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53312" y="186537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17 คำ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810512" y="1865376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โรงพยาบาล ห้องตรวจ ห้องฉุกเฉิน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4360" y="2103120"/>
            <a:ext cx="3840480" cy="219456"/>
          </a:xfrm>
          <a:prstGeom prst="rect">
            <a:avLst/>
          </a:prstGeom>
          <a:solidFill>
            <a:srgbClr val="D1FAE5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1792" y="2121408"/>
            <a:ext cx="713232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1792" y="2121408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กิริยา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53312" y="2103120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35 คำ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810512" y="2103120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กิน ดื่ม นอน ยืน เดิน หยุด มา ไป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4360" y="2340864"/>
            <a:ext cx="38404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1792" y="2359152"/>
            <a:ext cx="713232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1792" y="2359152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อาการ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353312" y="2340864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31 คำ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810512" y="234086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ปวด เจ็บ ไข้ คลื่นไส้ เวียนหัว บวม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94360" y="2578608"/>
            <a:ext cx="3840480" cy="219456"/>
          </a:xfrm>
          <a:prstGeom prst="rect">
            <a:avLst/>
          </a:prstGeom>
          <a:solidFill>
            <a:srgbClr val="D1FAE5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1792" y="2596896"/>
            <a:ext cx="713232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1792" y="2596896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ยา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353312" y="2578608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23 คำ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810512" y="257860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ยา กินยา ฉีดยา ผ่าตัด ทำแผล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94360" y="2816352"/>
            <a:ext cx="38404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1792" y="2834640"/>
            <a:ext cx="713232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21792" y="2834640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คำสั่ง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353312" y="2816352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20 คำ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810512" y="2816352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ไม่ ห้าม ต้อง ควร หายใจ กลืน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94360" y="3054096"/>
            <a:ext cx="3840480" cy="219456"/>
          </a:xfrm>
          <a:prstGeom prst="rect">
            <a:avLst/>
          </a:prstGeom>
          <a:solidFill>
            <a:srgbClr val="D1FAE5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21792" y="3072384"/>
            <a:ext cx="713232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21792" y="3072384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บุคลากร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353312" y="305409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12 คำ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810512" y="3054096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หมอ พยาบาล เภสัชกร ศัลยแพทย์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94360" y="3291840"/>
            <a:ext cx="38404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1792" y="3310128"/>
            <a:ext cx="713232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21792" y="3310128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การตรวจ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353312" y="3291840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21 คำ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810512" y="3291840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ตรวจ เจาะเลือด เอกซเรย์ วัดความดัน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94360" y="3529584"/>
            <a:ext cx="3840480" cy="219456"/>
          </a:xfrm>
          <a:prstGeom prst="rect">
            <a:avLst/>
          </a:prstGeom>
          <a:solidFill>
            <a:srgbClr val="D1FAE5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21792" y="3547872"/>
            <a:ext cx="713232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21792" y="3547872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ความถี่ยา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353312" y="3529584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12 คำ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810512" y="352958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ก่อนอาหาร หลังอาหาร ทุกวัน ครั้ง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94360" y="3767328"/>
            <a:ext cx="38404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21792" y="3785616"/>
            <a:ext cx="713232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21792" y="3785616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ปริมาณ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353312" y="3767328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23 คำ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810512" y="376732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มาก น้อย 0-9 หลักหน่วย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594360" y="4005072"/>
            <a:ext cx="3840480" cy="219456"/>
          </a:xfrm>
          <a:prstGeom prst="rect">
            <a:avLst/>
          </a:prstGeom>
          <a:solidFill>
            <a:srgbClr val="D1FAE5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21792" y="4023360"/>
            <a:ext cx="713232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21792" y="4023360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ร่างกาย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353312" y="4005072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37 คำ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1810512" y="4005072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หัว อก ท้อง แขน ขา หัวใจ ปอด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94360" y="4242816"/>
            <a:ext cx="38404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621792" y="4261104"/>
            <a:ext cx="713232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621792" y="4261104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อารมณ์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1353312" y="4242816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27 คำ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1810512" y="4242816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ใช่ ไม่ใช่ กลัว กังวล ขอบคุณ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594360" y="4480560"/>
            <a:ext cx="3840480" cy="219456"/>
          </a:xfrm>
          <a:prstGeom prst="rect">
            <a:avLst/>
          </a:prstGeom>
          <a:solidFill>
            <a:srgbClr val="D1FAE5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621792" y="4498848"/>
            <a:ext cx="713232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621792" y="4498848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ฉุกเฉิน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1353312" y="4480560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16 คำ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1810512" y="4480560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ระวัง ฉุกเฉิน CPR รถพยาบาล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594360" y="4718304"/>
            <a:ext cx="3840480" cy="219456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621792" y="4736592"/>
            <a:ext cx="713232" cy="18288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621792" y="4736592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ตัวเลข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1353312" y="4718304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41 คำ</a:t>
            </a:r>
            <a:endParaRPr lang="en-US" sz="105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1810512" y="471830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0-30 ช่อง ห้อง คิว นาที จ่ายเงิน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6296EAE-1F84-A204-76C7-BFAEC3CBCD4C}"/>
              </a:ext>
            </a:extLst>
          </p:cNvPr>
          <p:cNvGrpSpPr/>
          <p:nvPr/>
        </p:nvGrpSpPr>
        <p:grpSpPr>
          <a:xfrm>
            <a:off x="4754880" y="1207008"/>
            <a:ext cx="3931920" cy="2383536"/>
            <a:chOff x="4754880" y="3035808"/>
            <a:chExt cx="3931920" cy="1783080"/>
          </a:xfrm>
        </p:grpSpPr>
        <p:sp>
          <p:nvSpPr>
            <p:cNvPr id="82" name="Shape 80"/>
            <p:cNvSpPr/>
            <p:nvPr/>
          </p:nvSpPr>
          <p:spPr>
            <a:xfrm>
              <a:off x="4754880" y="3035808"/>
              <a:ext cx="3931920" cy="17830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83" name="Shape 81"/>
            <p:cNvSpPr/>
            <p:nvPr/>
          </p:nvSpPr>
          <p:spPr>
            <a:xfrm>
              <a:off x="4754880" y="3035808"/>
              <a:ext cx="50292" cy="1783080"/>
            </a:xfrm>
            <a:prstGeom prst="rect">
              <a:avLst/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84" name="Text 82"/>
            <p:cNvSpPr/>
            <p:nvPr/>
          </p:nvSpPr>
          <p:spPr>
            <a:xfrm>
              <a:off x="4892040" y="3127248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A2540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Video Sequence Player</a:t>
              </a:r>
              <a:endParaRPr lang="en-US" sz="14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85" name="Text 83"/>
            <p:cNvSpPr/>
            <p:nvPr/>
          </p:nvSpPr>
          <p:spPr>
            <a:xfrm>
              <a:off x="4892040" y="3456432"/>
              <a:ext cx="3657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▶ เล่นอัตโนมัติทีละ clip ต่อกัน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86" name="Text 84"/>
            <p:cNvSpPr/>
            <p:nvPr/>
          </p:nvSpPr>
          <p:spPr>
            <a:xfrm>
              <a:off x="4892040" y="3675888"/>
              <a:ext cx="3657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⏮⏭ ก่อนหน้า/ถัดไป manual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87" name="Text 85"/>
            <p:cNvSpPr/>
            <p:nvPr/>
          </p:nvSpPr>
          <p:spPr>
            <a:xfrm>
              <a:off x="4892040" y="3895344"/>
              <a:ext cx="3657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🔁 ซ้ำท่าปัจจุบัน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88" name="Text 86"/>
            <p:cNvSpPr/>
            <p:nvPr/>
          </p:nvSpPr>
          <p:spPr>
            <a:xfrm>
              <a:off x="4892040" y="4114800"/>
              <a:ext cx="3657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🎬 placeholder video ถ้ายังไม่มีคลิปจริง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89" name="Text 87"/>
            <p:cNvSpPr/>
            <p:nvPr/>
          </p:nvSpPr>
          <p:spPr>
            <a:xfrm>
              <a:off x="4892040" y="4334256"/>
              <a:ext cx="3657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❓ แสดง emoji ถ้า OOV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90" name="Text 88"/>
            <p:cNvSpPr/>
            <p:nvPr/>
          </p:nvSpPr>
          <p:spPr>
            <a:xfrm>
              <a:off x="4892040" y="4553712"/>
              <a:ext cx="3657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📊 แสดง sign coverage % ทุกครั้ง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TH SarabunPSK" panose="020B0500040200020003" pitchFamily="34" charset="-34"/>
                <a:ea typeface="Calibri" pitchFamily="34" charset="-122"/>
                <a:cs typeface="TH SarabunPSK" panose="020B0500040200020003" pitchFamily="34" charset="-34"/>
              </a:rPr>
              <a:t>Full Pipeline Walk-Through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4873752" cy="310896"/>
          </a:xfrm>
          <a:prstGeom prst="roundRect">
            <a:avLst>
              <a:gd name="adj" fmla="val 3529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ตัวอย่างประโยคจริงตั้งแต่เสียงจนถึงภาษามือ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1170432"/>
            <a:ext cx="9150614" cy="40233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🎙️  Input: "รับประทานยาเม็ดวันละ 2 </a:t>
            </a:r>
            <a:r>
              <a:rPr lang="th-TH" sz="1400" b="1" dirty="0">
                <a:solidFill>
                  <a:srgbClr val="FFFFFF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มื้อ</a:t>
            </a: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ea typeface="Courier New" pitchFamily="34" charset="-122"/>
                <a:cs typeface="TH SarabunPSK" panose="020B0500040200020003" pitchFamily="34" charset="-34"/>
              </a:rPr>
              <a:t> ก่อนอาหาร 30 นาที"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D92C190-92DE-0C34-76E9-F7968E1BA0F6}"/>
              </a:ext>
            </a:extLst>
          </p:cNvPr>
          <p:cNvGrpSpPr/>
          <p:nvPr/>
        </p:nvGrpSpPr>
        <p:grpSpPr>
          <a:xfrm>
            <a:off x="0" y="1754834"/>
            <a:ext cx="9144000" cy="2817165"/>
            <a:chOff x="274320" y="1682496"/>
            <a:chExt cx="9299448" cy="2468880"/>
          </a:xfrm>
        </p:grpSpPr>
        <p:sp>
          <p:nvSpPr>
            <p:cNvPr id="7" name="Shape 5"/>
            <p:cNvSpPr/>
            <p:nvPr/>
          </p:nvSpPr>
          <p:spPr>
            <a:xfrm>
              <a:off x="274320" y="1682496"/>
              <a:ext cx="1234440" cy="24688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274320" y="1682496"/>
              <a:ext cx="1234440" cy="36576"/>
            </a:xfrm>
            <a:prstGeom prst="rect">
              <a:avLst/>
            </a:prstGeom>
            <a:solidFill>
              <a:srgbClr val="0EA5E9"/>
            </a:solidFill>
            <a:ln w="12700">
              <a:solidFill>
                <a:srgbClr val="0EA5E9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306601" y="1737360"/>
              <a:ext cx="12344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rgbClr val="0EA5E9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Stage 1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rgbClr val="0EA5E9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Audio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365760" y="2231136"/>
              <a:ext cx="1051560" cy="0"/>
            </a:xfrm>
            <a:prstGeom prst="line">
              <a:avLst/>
            </a:prstGeom>
            <a:noFill/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361465" y="2286000"/>
              <a:ext cx="452905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94A3B8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IN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361465" y="2450592"/>
              <a:ext cx="1124713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🎙️ audio waveform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16kHz, mono WAV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365760" y="3310128"/>
              <a:ext cx="1051560" cy="0"/>
            </a:xfrm>
            <a:prstGeom prst="line">
              <a:avLst/>
            </a:prstGeom>
            <a:noFill/>
            <a:ln w="6350">
              <a:solidFill>
                <a:srgbClr val="0EA5E9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361465" y="3364992"/>
              <a:ext cx="577378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EA5E9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OUT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361465" y="3529584"/>
              <a:ext cx="1124713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tmp_audio.wav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readied for Whisper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1527048" y="2916936"/>
              <a:ext cx="73152" cy="0"/>
            </a:xfrm>
            <a:prstGeom prst="line">
              <a:avLst/>
            </a:prstGeom>
            <a:noFill/>
            <a:ln w="12700">
              <a:solidFill>
                <a:srgbClr val="0EA5E9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1650768" y="1682496"/>
              <a:ext cx="1234440" cy="24688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 sz="120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1618488" y="1682496"/>
              <a:ext cx="1234440" cy="36576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650768" y="1737360"/>
              <a:ext cx="12344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Stage 2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Whisper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1709928" y="2231136"/>
              <a:ext cx="1051560" cy="0"/>
            </a:xfrm>
            <a:prstGeom prst="line">
              <a:avLst/>
            </a:prstGeom>
            <a:noFill/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1705633" y="2286000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94A3B8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IN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705633" y="2450592"/>
              <a:ext cx="1124713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tmp_audio.wav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1709928" y="3310128"/>
              <a:ext cx="1051560" cy="0"/>
            </a:xfrm>
            <a:prstGeom prst="line">
              <a:avLst/>
            </a:prstGeom>
            <a:noFill/>
            <a:ln w="635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1705633" y="3364992"/>
              <a:ext cx="717247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OUT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1705633" y="3529584"/>
              <a:ext cx="1124713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"รับประทานยาเม็ด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วันละ 2 </a:t>
              </a:r>
              <a:r>
                <a:rPr lang="th-TH" sz="1200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ครั้ง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ก่อนอาหาร 30 นาที"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2871216" y="2916936"/>
              <a:ext cx="73152" cy="0"/>
            </a:xfrm>
            <a:prstGeom prst="line">
              <a:avLst/>
            </a:prstGeom>
            <a:noFill/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2962656" y="1682496"/>
              <a:ext cx="1234440" cy="24688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2962656" y="1682496"/>
              <a:ext cx="1234440" cy="36576"/>
            </a:xfrm>
            <a:prstGeom prst="rect">
              <a:avLst/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2994936" y="1737360"/>
              <a:ext cx="12344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rgbClr val="8B5CF6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Stage 3A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rgbClr val="8B5CF6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Preprocess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3054096" y="2231136"/>
              <a:ext cx="1051560" cy="0"/>
            </a:xfrm>
            <a:prstGeom prst="line">
              <a:avLst/>
            </a:prstGeom>
            <a:noFill/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3049800" y="2286000"/>
              <a:ext cx="256032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94A3B8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IN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3049800" y="2450592"/>
              <a:ext cx="1124713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"รับประทาน..."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วงเล็บ/ๆ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3054096" y="3310128"/>
              <a:ext cx="1051560" cy="0"/>
            </a:xfrm>
            <a:prstGeom prst="line">
              <a:avLst/>
            </a:prstGeom>
            <a:noFill/>
            <a:ln w="635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3031513" y="3364992"/>
              <a:ext cx="512064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8B5CF6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OUT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3031513" y="3529584"/>
              <a:ext cx="1124713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รับประทาน ยา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เม็ด วันละ 2 ครั้ง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ก่อนอาหาร 30 นาที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4215384" y="2916936"/>
              <a:ext cx="73152" cy="0"/>
            </a:xfrm>
            <a:prstGeom prst="line">
              <a:avLst/>
            </a:prstGeom>
            <a:noFill/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4306824" y="1682496"/>
              <a:ext cx="1234440" cy="24688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4306824" y="1682496"/>
              <a:ext cx="1234440" cy="36576"/>
            </a:xfrm>
            <a:prstGeom prst="rect">
              <a:avLst/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4320817" y="1737360"/>
              <a:ext cx="12344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rgbClr val="8B5CF6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Stage 3B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rgbClr val="8B5CF6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Simplify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4398264" y="2231136"/>
              <a:ext cx="1051560" cy="0"/>
            </a:xfrm>
            <a:prstGeom prst="line">
              <a:avLst/>
            </a:prstGeom>
            <a:noFill/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4375680" y="2286000"/>
              <a:ext cx="40663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94A3B8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IN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4375681" y="2450592"/>
              <a:ext cx="1124713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รับประทานยาเม็ด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วันละ 2 ครั้ง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ก่อนอาหาร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4398264" y="3310128"/>
              <a:ext cx="1051560" cy="0"/>
            </a:xfrm>
            <a:prstGeom prst="line">
              <a:avLst/>
            </a:prstGeom>
            <a:noFill/>
            <a:ln w="635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4375681" y="3364992"/>
              <a:ext cx="561925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8B5CF6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OUT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4375681" y="3529584"/>
              <a:ext cx="1124713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รับประทาน ยา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2 ครั้ง ทุกวัน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ก่อนอาหาร 30 นาที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6" name="Shape 44"/>
            <p:cNvSpPr/>
            <p:nvPr/>
          </p:nvSpPr>
          <p:spPr>
            <a:xfrm>
              <a:off x="5559552" y="2916936"/>
              <a:ext cx="73152" cy="0"/>
            </a:xfrm>
            <a:prstGeom prst="line">
              <a:avLst/>
            </a:prstGeom>
            <a:noFill/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7" name="Shape 45"/>
            <p:cNvSpPr/>
            <p:nvPr/>
          </p:nvSpPr>
          <p:spPr>
            <a:xfrm>
              <a:off x="5650992" y="1682496"/>
              <a:ext cx="1234440" cy="24688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5650992" y="1682496"/>
              <a:ext cx="1234440" cy="36576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5664984" y="1737360"/>
              <a:ext cx="12344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Stage 4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Intent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0" name="Shape 48"/>
            <p:cNvSpPr/>
            <p:nvPr/>
          </p:nvSpPr>
          <p:spPr>
            <a:xfrm>
              <a:off x="5742432" y="2231136"/>
              <a:ext cx="1051560" cy="0"/>
            </a:xfrm>
            <a:prstGeom prst="line">
              <a:avLst/>
            </a:prstGeom>
            <a:noFill/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1" name="Text 49"/>
            <p:cNvSpPr/>
            <p:nvPr/>
          </p:nvSpPr>
          <p:spPr>
            <a:xfrm>
              <a:off x="5742432" y="2286000"/>
              <a:ext cx="351768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94A3B8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IN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2" name="Text 50"/>
            <p:cNvSpPr/>
            <p:nvPr/>
          </p:nvSpPr>
          <p:spPr>
            <a:xfrm>
              <a:off x="5740704" y="2446800"/>
              <a:ext cx="1303297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รับประทาน → EAT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→ canonical 'กิน'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ยาเม็ด → MEDICINE → 'ยา'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3" name="Shape 51"/>
            <p:cNvSpPr/>
            <p:nvPr/>
          </p:nvSpPr>
          <p:spPr>
            <a:xfrm>
              <a:off x="5742432" y="3310128"/>
              <a:ext cx="1051560" cy="0"/>
            </a:xfrm>
            <a:prstGeom prst="line">
              <a:avLst/>
            </a:prstGeom>
            <a:noFill/>
            <a:ln w="635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4" name="Text 52"/>
            <p:cNvSpPr/>
            <p:nvPr/>
          </p:nvSpPr>
          <p:spPr>
            <a:xfrm>
              <a:off x="5719849" y="3364992"/>
              <a:ext cx="602987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OUT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5" name="Text 53"/>
            <p:cNvSpPr/>
            <p:nvPr/>
          </p:nvSpPr>
          <p:spPr>
            <a:xfrm>
              <a:off x="5719849" y="3529584"/>
              <a:ext cx="1124713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กิน ยา 2 ครั้ง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ทุกวัน ก่อนอาหาร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30 นาที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6" name="Shape 54"/>
            <p:cNvSpPr/>
            <p:nvPr/>
          </p:nvSpPr>
          <p:spPr>
            <a:xfrm>
              <a:off x="6903720" y="2916936"/>
              <a:ext cx="73152" cy="0"/>
            </a:xfrm>
            <a:prstGeom prst="line">
              <a:avLst/>
            </a:prstGeom>
            <a:noFill/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7" name="Shape 55"/>
            <p:cNvSpPr/>
            <p:nvPr/>
          </p:nvSpPr>
          <p:spPr>
            <a:xfrm>
              <a:off x="6995160" y="1682496"/>
              <a:ext cx="1234440" cy="24688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8" name="Shape 56"/>
            <p:cNvSpPr/>
            <p:nvPr/>
          </p:nvSpPr>
          <p:spPr>
            <a:xfrm>
              <a:off x="6995160" y="1682496"/>
              <a:ext cx="1234440" cy="36576"/>
            </a:xfrm>
            <a:prstGeom prst="rect">
              <a:avLst/>
            </a:prstGeom>
            <a:solidFill>
              <a:srgbClr val="F97316"/>
            </a:solidFill>
            <a:ln w="12700">
              <a:solidFill>
                <a:srgbClr val="F97316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9" name="Text 57"/>
            <p:cNvSpPr/>
            <p:nvPr/>
          </p:nvSpPr>
          <p:spPr>
            <a:xfrm>
              <a:off x="7009153" y="1737360"/>
              <a:ext cx="12344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rgbClr val="F97316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Stage 5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rgbClr val="F97316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Tokenize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0" name="Shape 58"/>
            <p:cNvSpPr/>
            <p:nvPr/>
          </p:nvSpPr>
          <p:spPr>
            <a:xfrm>
              <a:off x="7086600" y="2231136"/>
              <a:ext cx="1051560" cy="0"/>
            </a:xfrm>
            <a:prstGeom prst="line">
              <a:avLst/>
            </a:prstGeom>
            <a:noFill/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1" name="Text 59"/>
            <p:cNvSpPr/>
            <p:nvPr/>
          </p:nvSpPr>
          <p:spPr>
            <a:xfrm>
              <a:off x="7064016" y="2286000"/>
              <a:ext cx="406631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94A3B8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IN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2" name="Text 60"/>
            <p:cNvSpPr/>
            <p:nvPr/>
          </p:nvSpPr>
          <p:spPr>
            <a:xfrm>
              <a:off x="7064016" y="2450592"/>
              <a:ext cx="1124713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กิน ยา 2 ครั้ง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ทุกวัน ก่อนอาหาร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30 นาที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3" name="Shape 61"/>
            <p:cNvSpPr/>
            <p:nvPr/>
          </p:nvSpPr>
          <p:spPr>
            <a:xfrm>
              <a:off x="7086600" y="3310128"/>
              <a:ext cx="1051560" cy="0"/>
            </a:xfrm>
            <a:prstGeom prst="line">
              <a:avLst/>
            </a:prstGeom>
            <a:noFill/>
            <a:ln w="6350">
              <a:solidFill>
                <a:srgbClr val="F97316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4" name="Text 62"/>
            <p:cNvSpPr/>
            <p:nvPr/>
          </p:nvSpPr>
          <p:spPr>
            <a:xfrm>
              <a:off x="7050024" y="3364992"/>
              <a:ext cx="491428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97316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OUT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5" name="Text 63"/>
            <p:cNvSpPr/>
            <p:nvPr/>
          </p:nvSpPr>
          <p:spPr>
            <a:xfrm>
              <a:off x="7050024" y="3529584"/>
              <a:ext cx="1124712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["กินยา","2","ครั้ง",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"ทุกวัน","ก่อนอาหาร",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"30","นาที"]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6" name="Shape 64"/>
            <p:cNvSpPr/>
            <p:nvPr/>
          </p:nvSpPr>
          <p:spPr>
            <a:xfrm>
              <a:off x="8247888" y="2916936"/>
              <a:ext cx="73152" cy="0"/>
            </a:xfrm>
            <a:prstGeom prst="line">
              <a:avLst/>
            </a:prstGeom>
            <a:noFill/>
            <a:ln w="12700">
              <a:solidFill>
                <a:srgbClr val="F97316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7" name="Shape 65"/>
            <p:cNvSpPr/>
            <p:nvPr/>
          </p:nvSpPr>
          <p:spPr>
            <a:xfrm>
              <a:off x="8339328" y="1682496"/>
              <a:ext cx="1234440" cy="246888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66"/>
            <p:cNvSpPr/>
            <p:nvPr/>
          </p:nvSpPr>
          <p:spPr>
            <a:xfrm>
              <a:off x="8339328" y="1682496"/>
              <a:ext cx="1234440" cy="36576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67"/>
            <p:cNvSpPr/>
            <p:nvPr/>
          </p:nvSpPr>
          <p:spPr>
            <a:xfrm>
              <a:off x="8339328" y="1737360"/>
              <a:ext cx="12344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Stage 6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Sign Map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70" name="Shape 68"/>
            <p:cNvSpPr/>
            <p:nvPr/>
          </p:nvSpPr>
          <p:spPr>
            <a:xfrm>
              <a:off x="8430768" y="2231136"/>
              <a:ext cx="1051560" cy="0"/>
            </a:xfrm>
            <a:prstGeom prst="line">
              <a:avLst/>
            </a:prstGeom>
            <a:noFill/>
            <a:ln w="381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71" name="Text 69"/>
            <p:cNvSpPr/>
            <p:nvPr/>
          </p:nvSpPr>
          <p:spPr>
            <a:xfrm>
              <a:off x="8394192" y="2286000"/>
              <a:ext cx="368457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94A3B8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IN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72" name="Text 70"/>
            <p:cNvSpPr/>
            <p:nvPr/>
          </p:nvSpPr>
          <p:spPr>
            <a:xfrm>
              <a:off x="8394192" y="2450592"/>
              <a:ext cx="1124712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["กินยา","2","ครั้ง",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"ทุกวัน","ก่อนอาหาร",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200" dirty="0">
                  <a:solidFill>
                    <a:srgbClr val="1E293B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"30","นาที"]</a:t>
              </a:r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73" name="Shape 71"/>
            <p:cNvSpPr/>
            <p:nvPr/>
          </p:nvSpPr>
          <p:spPr>
            <a:xfrm>
              <a:off x="8430768" y="3310128"/>
              <a:ext cx="1051560" cy="0"/>
            </a:xfrm>
            <a:prstGeom prst="line">
              <a:avLst/>
            </a:prstGeom>
            <a:noFill/>
            <a:ln w="635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74" name="Text 72"/>
            <p:cNvSpPr/>
            <p:nvPr/>
          </p:nvSpPr>
          <p:spPr>
            <a:xfrm>
              <a:off x="8394192" y="3364992"/>
              <a:ext cx="451119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b="1" dirty="0">
                  <a:solidFill>
                    <a:srgbClr val="10B98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OUT</a:t>
              </a:r>
              <a:endParaRPr lang="en-US" sz="75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75" name="Text 73"/>
            <p:cNvSpPr/>
            <p:nvPr/>
          </p:nvSpPr>
          <p:spPr>
            <a:xfrm>
              <a:off x="8394192" y="3529584"/>
              <a:ext cx="1124712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800" b="1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💊🍽️ 2️⃣ 🔢 🔁🍽️ ⏱️</a:t>
              </a:r>
              <a:endParaRPr lang="en-US" sz="8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800" b="1" dirty="0">
                  <a:solidFill>
                    <a:srgbClr val="0A2540"/>
                  </a:solidFill>
                  <a:latin typeface="TH SarabunPSK" panose="020B0500040200020003" pitchFamily="34" charset="-34"/>
                  <a:ea typeface="Courier New" pitchFamily="34" charset="-122"/>
                  <a:cs typeface="TH SarabunPSK" panose="020B0500040200020003" pitchFamily="34" charset="-34"/>
                </a:rPr>
                <a:t>coverage: 100%</a:t>
              </a:r>
              <a:endParaRPr lang="en-US" sz="8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73">
            <a:extLst>
              <a:ext uri="{FF2B5EF4-FFF2-40B4-BE49-F238E27FC236}">
                <a16:creationId xmlns:a16="http://schemas.microsoft.com/office/drawing/2014/main" id="{0B1CFBA6-DD8E-5C6F-AAA5-349B90B9C30C}"/>
              </a:ext>
            </a:extLst>
          </p:cNvPr>
          <p:cNvSpPr/>
          <p:nvPr/>
        </p:nvSpPr>
        <p:spPr>
          <a:xfrm>
            <a:off x="356616" y="4788122"/>
            <a:ext cx="8262928" cy="35537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060EC47-FC59-B8A8-8AC7-DC65A678493F}"/>
              </a:ext>
            </a:extLst>
          </p:cNvPr>
          <p:cNvGrpSpPr/>
          <p:nvPr/>
        </p:nvGrpSpPr>
        <p:grpSpPr>
          <a:xfrm>
            <a:off x="356616" y="106299"/>
            <a:ext cx="8577072" cy="4857750"/>
            <a:chOff x="438912" y="262890"/>
            <a:chExt cx="8577072" cy="4857750"/>
          </a:xfrm>
        </p:grpSpPr>
        <p:sp>
          <p:nvSpPr>
            <p:cNvPr id="2" name="Text 0"/>
            <p:cNvSpPr/>
            <p:nvPr/>
          </p:nvSpPr>
          <p:spPr>
            <a:xfrm>
              <a:off x="438912" y="262890"/>
              <a:ext cx="82296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100" b="1" dirty="0">
                  <a:solidFill>
                    <a:srgbClr val="0A2540"/>
                  </a:solidFill>
                  <a:latin typeface="TH SarabunPSK" panose="020B0500040200020003" pitchFamily="34" charset="-34"/>
                  <a:ea typeface="Calibri" pitchFamily="34" charset="-122"/>
                  <a:cs typeface="TH SarabunPSK" panose="020B0500040200020003" pitchFamily="34" charset="-34"/>
                </a:rPr>
                <a:t>Evaluation &amp; Results</a:t>
              </a:r>
              <a:endParaRPr lang="en-US" sz="31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3" name="Shape 1"/>
            <p:cNvSpPr/>
            <p:nvPr/>
          </p:nvSpPr>
          <p:spPr>
            <a:xfrm>
              <a:off x="457200" y="749808"/>
              <a:ext cx="6661404" cy="310896"/>
            </a:xfrm>
            <a:prstGeom prst="roundRect">
              <a:avLst>
                <a:gd name="adj" fmla="val 35294"/>
              </a:avLst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4" name="Text 2"/>
            <p:cNvSpPr/>
            <p:nvPr/>
          </p:nvSpPr>
          <p:spPr>
            <a:xfrm>
              <a:off x="457200" y="749808"/>
              <a:ext cx="666140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12 ประโยคทดสอบ + 8 clinical categories + 5 human evaluators</a:t>
              </a:r>
              <a:endParaRPr lang="en-US" sz="14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5" name="Shape 3"/>
            <p:cNvSpPr/>
            <p:nvPr/>
          </p:nvSpPr>
          <p:spPr>
            <a:xfrm>
              <a:off x="457200" y="1207008"/>
              <a:ext cx="2011680" cy="136474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6" name="Shape 4"/>
            <p:cNvSpPr/>
            <p:nvPr/>
          </p:nvSpPr>
          <p:spPr>
            <a:xfrm>
              <a:off x="457200" y="1207008"/>
              <a:ext cx="2011680" cy="36576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475488" y="1298448"/>
              <a:ext cx="20116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D9488"/>
                  </a:solidFill>
                  <a:latin typeface="TH SarabunPSK" panose="020B0500040200020003" pitchFamily="34" charset="-34"/>
                  <a:ea typeface="Calibri" pitchFamily="34" charset="-122"/>
                  <a:cs typeface="TH SarabunPSK" panose="020B0500040200020003" pitchFamily="34" charset="-34"/>
                </a:rPr>
                <a:t>~8%</a:t>
              </a:r>
              <a:endParaRPr lang="en-US" sz="3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2633472" y="1207008"/>
              <a:ext cx="2011680" cy="136474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2633472" y="1207008"/>
              <a:ext cx="2011680" cy="36576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2651760" y="1298448"/>
              <a:ext cx="20116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10B981"/>
                  </a:solidFill>
                  <a:latin typeface="TH SarabunPSK" panose="020B0500040200020003" pitchFamily="34" charset="-34"/>
                  <a:ea typeface="Calibri" pitchFamily="34" charset="-122"/>
                  <a:cs typeface="TH SarabunPSK" panose="020B0500040200020003" pitchFamily="34" charset="-34"/>
                </a:rPr>
                <a:t>~95%</a:t>
              </a:r>
              <a:endParaRPr lang="en-US" sz="3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4809744" y="1207008"/>
              <a:ext cx="2011680" cy="136474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4809744" y="1207008"/>
              <a:ext cx="2011680" cy="36576"/>
            </a:xfrm>
            <a:prstGeom prst="rect">
              <a:avLst/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4828032" y="1298448"/>
              <a:ext cx="20116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8B5CF6"/>
                  </a:solidFill>
                  <a:latin typeface="TH SarabunPSK" panose="020B0500040200020003" pitchFamily="34" charset="-34"/>
                  <a:ea typeface="Calibri" pitchFamily="34" charset="-122"/>
                  <a:cs typeface="TH SarabunPSK" panose="020B0500040200020003" pitchFamily="34" charset="-34"/>
                </a:rPr>
                <a:t>4.3/5</a:t>
              </a:r>
              <a:endParaRPr lang="en-US" sz="3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6986016" y="1207008"/>
              <a:ext cx="2011680" cy="136474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6986016" y="1207008"/>
              <a:ext cx="2011680" cy="36576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6986016" y="1298448"/>
              <a:ext cx="201168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F59E0B"/>
                  </a:solidFill>
                  <a:latin typeface="TH SarabunPSK" panose="020B0500040200020003" pitchFamily="34" charset="-34"/>
                  <a:ea typeface="Calibri" pitchFamily="34" charset="-122"/>
                  <a:cs typeface="TH SarabunPSK" panose="020B0500040200020003" pitchFamily="34" charset="-34"/>
                </a:rPr>
                <a:t>&lt;15s</a:t>
              </a:r>
              <a:endParaRPr lang="en-US" sz="3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B06ED608-3E58-4E2A-117B-1E734DA6FC12}"/>
                </a:ext>
              </a:extLst>
            </p:cNvPr>
            <p:cNvGrpSpPr/>
            <p:nvPr/>
          </p:nvGrpSpPr>
          <p:grpSpPr>
            <a:xfrm>
              <a:off x="475488" y="1712214"/>
              <a:ext cx="8540496" cy="859536"/>
              <a:chOff x="457200" y="1828800"/>
              <a:chExt cx="8540496" cy="859536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457200" y="1847088"/>
                <a:ext cx="2011680" cy="40233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1100" b="1" dirty="0">
                    <a:solidFill>
                      <a:srgbClr val="0A2540"/>
                    </a:solidFill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WER</a:t>
                </a:r>
                <a:endParaRPr lang="en-US" sz="11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1100" b="1" dirty="0">
                    <a:solidFill>
                      <a:srgbClr val="0A2540"/>
                    </a:solidFill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(Word Error Rate)</a:t>
                </a:r>
                <a:endParaRPr lang="en-US" sz="11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457200" y="2249424"/>
                <a:ext cx="2011680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900" i="1" dirty="0">
                    <a:solidFill>
                      <a:srgbClr val="475569"/>
                    </a:solidFill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Whisper large</a:t>
                </a:r>
                <a:endParaRPr lang="en-US" sz="9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900" i="1" dirty="0">
                    <a:solidFill>
                      <a:srgbClr val="475569"/>
                    </a:solidFill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medical prompt</a:t>
                </a:r>
                <a:endParaRPr lang="en-US" sz="9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2633472" y="1828800"/>
                <a:ext cx="2011680" cy="40233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1100" b="1" dirty="0">
                    <a:solidFill>
                      <a:srgbClr val="0A2540"/>
                    </a:solidFill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Sign Coverage</a:t>
                </a:r>
                <a:endParaRPr lang="en-US" sz="11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1100" b="1" dirty="0">
                    <a:solidFill>
                      <a:srgbClr val="0A2540"/>
                    </a:solidFill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เฉลี่ย</a:t>
                </a:r>
                <a:endParaRPr lang="en-US" sz="11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2633472" y="2231136"/>
                <a:ext cx="2011680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900" i="1" dirty="0">
                    <a:solidFill>
                      <a:srgbClr val="475569"/>
                    </a:solidFill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หลัง intent+compound</a:t>
                </a:r>
                <a:endParaRPr lang="en-US" sz="9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4809744" y="1828800"/>
                <a:ext cx="2011680" cy="40233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1100" b="1" dirty="0">
                    <a:solidFill>
                      <a:srgbClr val="0A2540"/>
                    </a:solidFill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Simplification</a:t>
                </a:r>
                <a:endParaRPr lang="en-US" sz="11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1100" b="1" dirty="0">
                    <a:solidFill>
                      <a:srgbClr val="0A2540"/>
                    </a:solidFill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Quality</a:t>
                </a:r>
                <a:endParaRPr lang="en-US" sz="11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4809744" y="2231136"/>
                <a:ext cx="2011680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900" i="1" dirty="0">
                    <a:solidFill>
                      <a:srgbClr val="475569"/>
                    </a:solidFill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Likert scale</a:t>
                </a:r>
                <a:endParaRPr lang="en-US" sz="9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900" i="1" dirty="0">
                    <a:solidFill>
                      <a:srgbClr val="475569"/>
                    </a:solidFill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5 evaluators</a:t>
                </a:r>
                <a:endParaRPr lang="en-US" sz="9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6986016" y="1828800"/>
                <a:ext cx="2011680" cy="40233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1100" b="1" dirty="0">
                    <a:solidFill>
                      <a:srgbClr val="0A2540"/>
                    </a:solidFill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Latency</a:t>
                </a:r>
                <a:endParaRPr lang="en-US" sz="11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1100" b="1" dirty="0">
                    <a:solidFill>
                      <a:srgbClr val="0A2540"/>
                    </a:solidFill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ต่อประโยค</a:t>
                </a:r>
                <a:endParaRPr lang="en-US" sz="11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6986016" y="2212848"/>
                <a:ext cx="2011680" cy="43891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900" i="1" dirty="0">
                    <a:solidFill>
                      <a:srgbClr val="475569"/>
                    </a:solidFill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CPU only</a:t>
                </a:r>
                <a:endParaRPr lang="en-US" sz="9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900" i="1" dirty="0">
                    <a:solidFill>
                      <a:srgbClr val="475569"/>
                    </a:solidFill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Whisper large</a:t>
                </a:r>
                <a:endParaRPr lang="en-US" sz="9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E24F5756-200C-B40B-782A-1FC7FAE12C18}"/>
                </a:ext>
              </a:extLst>
            </p:cNvPr>
            <p:cNvGrpSpPr/>
            <p:nvPr/>
          </p:nvGrpSpPr>
          <p:grpSpPr>
            <a:xfrm>
              <a:off x="438912" y="2583180"/>
              <a:ext cx="8229600" cy="2537460"/>
              <a:chOff x="448056" y="2688336"/>
              <a:chExt cx="8229600" cy="2537460"/>
            </a:xfrm>
          </p:grpSpPr>
          <p:sp>
            <p:nvSpPr>
              <p:cNvPr id="25" name="Text 23"/>
              <p:cNvSpPr/>
              <p:nvPr/>
            </p:nvSpPr>
            <p:spPr>
              <a:xfrm>
                <a:off x="448056" y="2688336"/>
                <a:ext cx="822960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0A2540"/>
                    </a:solidFill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ผลทดสอบแยกตามหมวด</a:t>
                </a:r>
                <a:endParaRPr lang="en-US" sz="13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</p:txBody>
          </p: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930A6611-57E8-2494-604A-AAB61AB58735}"/>
                  </a:ext>
                </a:extLst>
              </p:cNvPr>
              <p:cNvGrpSpPr/>
              <p:nvPr/>
            </p:nvGrpSpPr>
            <p:grpSpPr>
              <a:xfrm>
                <a:off x="448056" y="2967228"/>
                <a:ext cx="8229600" cy="2258568"/>
                <a:chOff x="457200" y="3154680"/>
                <a:chExt cx="8229600" cy="2258568"/>
              </a:xfrm>
            </p:grpSpPr>
            <p:sp>
              <p:nvSpPr>
                <p:cNvPr id="26" name="Shape 24"/>
                <p:cNvSpPr/>
                <p:nvPr/>
              </p:nvSpPr>
              <p:spPr>
                <a:xfrm>
                  <a:off x="457200" y="3154680"/>
                  <a:ext cx="8229600" cy="274320"/>
                </a:xfrm>
                <a:prstGeom prst="rect">
                  <a:avLst/>
                </a:prstGeom>
                <a:solidFill>
                  <a:srgbClr val="0A2540"/>
                </a:solidFill>
                <a:ln w="12700">
                  <a:solidFill>
                    <a:srgbClr val="0A2540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27" name="Text 25"/>
                <p:cNvSpPr/>
                <p:nvPr/>
              </p:nvSpPr>
              <p:spPr>
                <a:xfrm>
                  <a:off x="502920" y="3154680"/>
                  <a:ext cx="292608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9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ประโยคทดสอบ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28" name="Text 26"/>
                <p:cNvSpPr/>
                <p:nvPr/>
              </p:nvSpPr>
              <p:spPr>
                <a:xfrm>
                  <a:off x="3765804" y="3154680"/>
                  <a:ext cx="778764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9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หมวด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29" name="Text 27"/>
                <p:cNvSpPr/>
                <p:nvPr/>
              </p:nvSpPr>
              <p:spPr>
                <a:xfrm>
                  <a:off x="4562856" y="3154680"/>
                  <a:ext cx="155448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9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ก่อน intent+compound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30" name="Text 28"/>
                <p:cNvSpPr/>
                <p:nvPr/>
              </p:nvSpPr>
              <p:spPr>
                <a:xfrm>
                  <a:off x="6135624" y="3154680"/>
                  <a:ext cx="155448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9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หลัง intent+compound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31" name="Text 29"/>
                <p:cNvSpPr/>
                <p:nvPr/>
              </p:nvSpPr>
              <p:spPr>
                <a:xfrm>
                  <a:off x="7708392" y="3154680"/>
                  <a:ext cx="804672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9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Coverage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32" name="Shape 30"/>
                <p:cNvSpPr/>
                <p:nvPr/>
              </p:nvSpPr>
              <p:spPr>
                <a:xfrm>
                  <a:off x="457200" y="3438144"/>
                  <a:ext cx="8229600" cy="210312"/>
                </a:xfrm>
                <a:prstGeom prst="rect">
                  <a:avLst/>
                </a:prstGeom>
                <a:solidFill>
                  <a:srgbClr val="F1F5F9"/>
                </a:solidFill>
                <a:ln w="3810">
                  <a:solidFill>
                    <a:srgbClr val="CBD5E1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33" name="Text 31"/>
                <p:cNvSpPr/>
                <p:nvPr/>
              </p:nvSpPr>
              <p:spPr>
                <a:xfrm>
                  <a:off x="502920" y="3438144"/>
                  <a:ext cx="29077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900" dirty="0">
                      <a:solidFill>
                        <a:srgbClr val="1E293B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กรุณางดอาหารก่อนตรวจ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34" name="Shape 32"/>
                <p:cNvSpPr/>
                <p:nvPr/>
              </p:nvSpPr>
              <p:spPr>
                <a:xfrm>
                  <a:off x="3447288" y="3456432"/>
                  <a:ext cx="1060704" cy="173736"/>
                </a:xfrm>
                <a:prstGeom prst="roundRect">
                  <a:avLst>
                    <a:gd name="adj" fmla="val 31579"/>
                  </a:avLst>
                </a:prstGeom>
                <a:solidFill>
                  <a:srgbClr val="0D9488"/>
                </a:solidFill>
                <a:ln w="12700">
                  <a:solidFill>
                    <a:srgbClr val="0D9488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35" name="Text 33"/>
                <p:cNvSpPr/>
                <p:nvPr/>
              </p:nvSpPr>
              <p:spPr>
                <a:xfrm>
                  <a:off x="3447288" y="3456432"/>
                  <a:ext cx="1060704" cy="17373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การตรวจ</a:t>
                  </a:r>
                  <a:endParaRPr lang="en-US" sz="10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36" name="Text 34"/>
                <p:cNvSpPr/>
                <p:nvPr/>
              </p:nvSpPr>
              <p:spPr>
                <a:xfrm>
                  <a:off x="4562856" y="3438144"/>
                  <a:ext cx="15361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EF4444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44%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37" name="Text 35"/>
                <p:cNvSpPr/>
                <p:nvPr/>
              </p:nvSpPr>
              <p:spPr>
                <a:xfrm>
                  <a:off x="6135624" y="3438144"/>
                  <a:ext cx="15361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10B981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100%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38" name="Shape 36"/>
                <p:cNvSpPr/>
                <p:nvPr/>
              </p:nvSpPr>
              <p:spPr>
                <a:xfrm>
                  <a:off x="7708392" y="3474720"/>
                  <a:ext cx="804672" cy="137160"/>
                </a:xfrm>
                <a:prstGeom prst="rect">
                  <a:avLst/>
                </a:prstGeom>
                <a:solidFill>
                  <a:srgbClr val="10B981"/>
                </a:solidFill>
                <a:ln w="12700">
                  <a:solidFill>
                    <a:srgbClr val="10B981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39" name="Text 37"/>
                <p:cNvSpPr/>
                <p:nvPr/>
              </p:nvSpPr>
              <p:spPr>
                <a:xfrm>
                  <a:off x="7708392" y="3474720"/>
                  <a:ext cx="804672" cy="1371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8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▲</a:t>
                  </a:r>
                  <a:endParaRPr lang="en-US" sz="8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40" name="Shape 38"/>
                <p:cNvSpPr/>
                <p:nvPr/>
              </p:nvSpPr>
              <p:spPr>
                <a:xfrm>
                  <a:off x="457200" y="3657600"/>
                  <a:ext cx="8229600" cy="210312"/>
                </a:xfrm>
                <a:prstGeom prst="rect">
                  <a:avLst/>
                </a:prstGeom>
                <a:solidFill>
                  <a:srgbClr val="FFFFFF"/>
                </a:solidFill>
                <a:ln w="3810">
                  <a:solidFill>
                    <a:srgbClr val="CBD5E1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41" name="Text 39"/>
                <p:cNvSpPr/>
                <p:nvPr/>
              </p:nvSpPr>
              <p:spPr>
                <a:xfrm>
                  <a:off x="502920" y="3657600"/>
                  <a:ext cx="29077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900" dirty="0">
                      <a:solidFill>
                        <a:srgbClr val="1E293B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รับประทานยาวันละ 2 ครั้ง หลังอาหาร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42" name="Shape 40"/>
                <p:cNvSpPr/>
                <p:nvPr/>
              </p:nvSpPr>
              <p:spPr>
                <a:xfrm>
                  <a:off x="3447288" y="3675888"/>
                  <a:ext cx="1060704" cy="173736"/>
                </a:xfrm>
                <a:prstGeom prst="roundRect">
                  <a:avLst>
                    <a:gd name="adj" fmla="val 31579"/>
                  </a:avLst>
                </a:prstGeom>
                <a:solidFill>
                  <a:srgbClr val="0D9488"/>
                </a:solidFill>
                <a:ln w="12700">
                  <a:solidFill>
                    <a:srgbClr val="0D9488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43" name="Text 41"/>
                <p:cNvSpPr/>
                <p:nvPr/>
              </p:nvSpPr>
              <p:spPr>
                <a:xfrm>
                  <a:off x="3447288" y="3675888"/>
                  <a:ext cx="1060704" cy="17373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ยา</a:t>
                  </a:r>
                  <a:endParaRPr lang="en-US" sz="10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44" name="Text 42"/>
                <p:cNvSpPr/>
                <p:nvPr/>
              </p:nvSpPr>
              <p:spPr>
                <a:xfrm>
                  <a:off x="4562856" y="3657600"/>
                  <a:ext cx="15361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EF4444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50%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45" name="Text 43"/>
                <p:cNvSpPr/>
                <p:nvPr/>
              </p:nvSpPr>
              <p:spPr>
                <a:xfrm>
                  <a:off x="6135624" y="3657600"/>
                  <a:ext cx="15361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10B981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100%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46" name="Shape 44"/>
                <p:cNvSpPr/>
                <p:nvPr/>
              </p:nvSpPr>
              <p:spPr>
                <a:xfrm>
                  <a:off x="7708392" y="3694176"/>
                  <a:ext cx="804672" cy="137160"/>
                </a:xfrm>
                <a:prstGeom prst="rect">
                  <a:avLst/>
                </a:prstGeom>
                <a:solidFill>
                  <a:srgbClr val="10B981"/>
                </a:solidFill>
                <a:ln w="12700">
                  <a:solidFill>
                    <a:srgbClr val="10B981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47" name="Text 45"/>
                <p:cNvSpPr/>
                <p:nvPr/>
              </p:nvSpPr>
              <p:spPr>
                <a:xfrm>
                  <a:off x="7708392" y="3694176"/>
                  <a:ext cx="804672" cy="1371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8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▲</a:t>
                  </a:r>
                  <a:endParaRPr lang="en-US" sz="8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48" name="Shape 46"/>
                <p:cNvSpPr/>
                <p:nvPr/>
              </p:nvSpPr>
              <p:spPr>
                <a:xfrm>
                  <a:off x="457200" y="3877056"/>
                  <a:ext cx="8229600" cy="210312"/>
                </a:xfrm>
                <a:prstGeom prst="rect">
                  <a:avLst/>
                </a:prstGeom>
                <a:solidFill>
                  <a:srgbClr val="F1F5F9"/>
                </a:solidFill>
                <a:ln w="3810">
                  <a:solidFill>
                    <a:srgbClr val="CBD5E1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49" name="Text 47"/>
                <p:cNvSpPr/>
                <p:nvPr/>
              </p:nvSpPr>
              <p:spPr>
                <a:xfrm>
                  <a:off x="502920" y="3877056"/>
                  <a:ext cx="29077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900" dirty="0">
                      <a:solidFill>
                        <a:srgbClr val="1E293B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แพทย์จะมาตรวจตอนเช้าพรุ่งนี้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50" name="Shape 48"/>
                <p:cNvSpPr/>
                <p:nvPr/>
              </p:nvSpPr>
              <p:spPr>
                <a:xfrm>
                  <a:off x="3447288" y="3895344"/>
                  <a:ext cx="1060704" cy="173736"/>
                </a:xfrm>
                <a:prstGeom prst="roundRect">
                  <a:avLst>
                    <a:gd name="adj" fmla="val 31579"/>
                  </a:avLst>
                </a:prstGeom>
                <a:solidFill>
                  <a:srgbClr val="0D9488"/>
                </a:solidFill>
                <a:ln w="12700">
                  <a:solidFill>
                    <a:srgbClr val="0D9488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51" name="Text 49"/>
                <p:cNvSpPr/>
                <p:nvPr/>
              </p:nvSpPr>
              <p:spPr>
                <a:xfrm>
                  <a:off x="3447288" y="3895344"/>
                  <a:ext cx="1060704" cy="17373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นัดหมาย</a:t>
                  </a:r>
                  <a:endParaRPr lang="en-US" sz="10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52" name="Text 50"/>
                <p:cNvSpPr/>
                <p:nvPr/>
              </p:nvSpPr>
              <p:spPr>
                <a:xfrm>
                  <a:off x="4562856" y="3877056"/>
                  <a:ext cx="15361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EF4444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60%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53" name="Text 51"/>
                <p:cNvSpPr/>
                <p:nvPr/>
              </p:nvSpPr>
              <p:spPr>
                <a:xfrm>
                  <a:off x="6135624" y="3877056"/>
                  <a:ext cx="15361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10B981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100%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54" name="Shape 52"/>
                <p:cNvSpPr/>
                <p:nvPr/>
              </p:nvSpPr>
              <p:spPr>
                <a:xfrm>
                  <a:off x="7708392" y="3913632"/>
                  <a:ext cx="804672" cy="137160"/>
                </a:xfrm>
                <a:prstGeom prst="rect">
                  <a:avLst/>
                </a:prstGeom>
                <a:solidFill>
                  <a:srgbClr val="10B981"/>
                </a:solidFill>
                <a:ln w="12700">
                  <a:solidFill>
                    <a:srgbClr val="10B981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55" name="Text 53"/>
                <p:cNvSpPr/>
                <p:nvPr/>
              </p:nvSpPr>
              <p:spPr>
                <a:xfrm>
                  <a:off x="7708392" y="3913632"/>
                  <a:ext cx="804672" cy="1371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8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▲</a:t>
                  </a:r>
                  <a:endParaRPr lang="en-US" sz="8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56" name="Shape 54"/>
                <p:cNvSpPr/>
                <p:nvPr/>
              </p:nvSpPr>
              <p:spPr>
                <a:xfrm>
                  <a:off x="457200" y="4096512"/>
                  <a:ext cx="8229600" cy="210312"/>
                </a:xfrm>
                <a:prstGeom prst="rect">
                  <a:avLst/>
                </a:prstGeom>
                <a:solidFill>
                  <a:srgbClr val="FFFFFF"/>
                </a:solidFill>
                <a:ln w="3810">
                  <a:solidFill>
                    <a:srgbClr val="CBD5E1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57" name="Text 55"/>
                <p:cNvSpPr/>
                <p:nvPr/>
              </p:nvSpPr>
              <p:spPr>
                <a:xfrm>
                  <a:off x="502920" y="4096512"/>
                  <a:ext cx="29077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900" dirty="0">
                      <a:solidFill>
                        <a:srgbClr val="1E293B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รับยาที่ช่อง 9 ชั้น 2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58" name="Shape 56"/>
                <p:cNvSpPr/>
                <p:nvPr/>
              </p:nvSpPr>
              <p:spPr>
                <a:xfrm>
                  <a:off x="3447288" y="4114800"/>
                  <a:ext cx="1060704" cy="173736"/>
                </a:xfrm>
                <a:prstGeom prst="roundRect">
                  <a:avLst>
                    <a:gd name="adj" fmla="val 31579"/>
                  </a:avLst>
                </a:prstGeom>
                <a:solidFill>
                  <a:srgbClr val="0D9488"/>
                </a:solidFill>
                <a:ln w="12700">
                  <a:solidFill>
                    <a:srgbClr val="0D9488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59" name="Text 57"/>
                <p:cNvSpPr/>
                <p:nvPr/>
              </p:nvSpPr>
              <p:spPr>
                <a:xfrm>
                  <a:off x="3447288" y="4114800"/>
                  <a:ext cx="1060704" cy="17373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บริการ</a:t>
                  </a:r>
                  <a:endParaRPr lang="en-US" sz="10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60" name="Text 58"/>
                <p:cNvSpPr/>
                <p:nvPr/>
              </p:nvSpPr>
              <p:spPr>
                <a:xfrm>
                  <a:off x="4562856" y="4096512"/>
                  <a:ext cx="15361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EF4444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57%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61" name="Text 59"/>
                <p:cNvSpPr/>
                <p:nvPr/>
              </p:nvSpPr>
              <p:spPr>
                <a:xfrm>
                  <a:off x="6135624" y="4096512"/>
                  <a:ext cx="15361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10B981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100%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62" name="Shape 60"/>
                <p:cNvSpPr/>
                <p:nvPr/>
              </p:nvSpPr>
              <p:spPr>
                <a:xfrm>
                  <a:off x="7708392" y="4133088"/>
                  <a:ext cx="804672" cy="137160"/>
                </a:xfrm>
                <a:prstGeom prst="rect">
                  <a:avLst/>
                </a:prstGeom>
                <a:solidFill>
                  <a:srgbClr val="10B981"/>
                </a:solidFill>
                <a:ln w="12700">
                  <a:solidFill>
                    <a:srgbClr val="10B981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63" name="Text 61"/>
                <p:cNvSpPr/>
                <p:nvPr/>
              </p:nvSpPr>
              <p:spPr>
                <a:xfrm>
                  <a:off x="7708392" y="4133088"/>
                  <a:ext cx="804672" cy="1371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8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▲</a:t>
                  </a:r>
                  <a:endParaRPr lang="en-US" sz="8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64" name="Shape 62"/>
                <p:cNvSpPr/>
                <p:nvPr/>
              </p:nvSpPr>
              <p:spPr>
                <a:xfrm>
                  <a:off x="457200" y="4315968"/>
                  <a:ext cx="8229600" cy="210312"/>
                </a:xfrm>
                <a:prstGeom prst="rect">
                  <a:avLst/>
                </a:prstGeom>
                <a:solidFill>
                  <a:srgbClr val="F1F5F9"/>
                </a:solidFill>
                <a:ln w="3810">
                  <a:solidFill>
                    <a:srgbClr val="CBD5E1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65" name="Text 63"/>
                <p:cNvSpPr/>
                <p:nvPr/>
              </p:nvSpPr>
              <p:spPr>
                <a:xfrm>
                  <a:off x="502920" y="4315968"/>
                  <a:ext cx="29077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900" dirty="0">
                      <a:solidFill>
                        <a:srgbClr val="1E293B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ชำระเงินช่องเบอร์ 8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66" name="Shape 64"/>
                <p:cNvSpPr/>
                <p:nvPr/>
              </p:nvSpPr>
              <p:spPr>
                <a:xfrm>
                  <a:off x="3447288" y="4334256"/>
                  <a:ext cx="1060704" cy="173736"/>
                </a:xfrm>
                <a:prstGeom prst="roundRect">
                  <a:avLst>
                    <a:gd name="adj" fmla="val 31579"/>
                  </a:avLst>
                </a:prstGeom>
                <a:solidFill>
                  <a:srgbClr val="0D9488"/>
                </a:solidFill>
                <a:ln w="12700">
                  <a:solidFill>
                    <a:srgbClr val="0D9488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67" name="Text 65"/>
                <p:cNvSpPr/>
                <p:nvPr/>
              </p:nvSpPr>
              <p:spPr>
                <a:xfrm>
                  <a:off x="3447288" y="4334256"/>
                  <a:ext cx="1060704" cy="17373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บริการ</a:t>
                  </a:r>
                  <a:endParaRPr lang="en-US" sz="10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68" name="Text 66"/>
                <p:cNvSpPr/>
                <p:nvPr/>
              </p:nvSpPr>
              <p:spPr>
                <a:xfrm>
                  <a:off x="4562856" y="4315968"/>
                  <a:ext cx="15361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EF4444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20%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69" name="Text 67"/>
                <p:cNvSpPr/>
                <p:nvPr/>
              </p:nvSpPr>
              <p:spPr>
                <a:xfrm>
                  <a:off x="6135624" y="4315968"/>
                  <a:ext cx="15361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10B981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100%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70" name="Shape 68"/>
                <p:cNvSpPr/>
                <p:nvPr/>
              </p:nvSpPr>
              <p:spPr>
                <a:xfrm>
                  <a:off x="7708392" y="4352544"/>
                  <a:ext cx="804672" cy="137160"/>
                </a:xfrm>
                <a:prstGeom prst="rect">
                  <a:avLst/>
                </a:prstGeom>
                <a:solidFill>
                  <a:srgbClr val="10B981"/>
                </a:solidFill>
                <a:ln w="12700">
                  <a:solidFill>
                    <a:srgbClr val="10B981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71" name="Text 69"/>
                <p:cNvSpPr/>
                <p:nvPr/>
              </p:nvSpPr>
              <p:spPr>
                <a:xfrm>
                  <a:off x="7708392" y="4352544"/>
                  <a:ext cx="804672" cy="1371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8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▲</a:t>
                  </a:r>
                  <a:endParaRPr lang="en-US" sz="8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72" name="Shape 70"/>
                <p:cNvSpPr/>
                <p:nvPr/>
              </p:nvSpPr>
              <p:spPr>
                <a:xfrm>
                  <a:off x="457200" y="4535424"/>
                  <a:ext cx="8229600" cy="210312"/>
                </a:xfrm>
                <a:prstGeom prst="rect">
                  <a:avLst/>
                </a:prstGeom>
                <a:solidFill>
                  <a:srgbClr val="FFFFFF"/>
                </a:solidFill>
                <a:ln w="3810">
                  <a:solidFill>
                    <a:srgbClr val="CBD5E1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73" name="Text 71"/>
                <p:cNvSpPr/>
                <p:nvPr/>
              </p:nvSpPr>
              <p:spPr>
                <a:xfrm>
                  <a:off x="502920" y="4535424"/>
                  <a:ext cx="29077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900" dirty="0">
                      <a:solidFill>
                        <a:srgbClr val="1E293B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วัดความดันก่อนอาหารเช้า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74" name="Shape 72"/>
                <p:cNvSpPr/>
                <p:nvPr/>
              </p:nvSpPr>
              <p:spPr>
                <a:xfrm>
                  <a:off x="3447288" y="4553712"/>
                  <a:ext cx="1060704" cy="173736"/>
                </a:xfrm>
                <a:prstGeom prst="roundRect">
                  <a:avLst>
                    <a:gd name="adj" fmla="val 31579"/>
                  </a:avLst>
                </a:prstGeom>
                <a:solidFill>
                  <a:srgbClr val="0D9488"/>
                </a:solidFill>
                <a:ln w="12700">
                  <a:solidFill>
                    <a:srgbClr val="0D9488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75" name="Text 73"/>
                <p:cNvSpPr/>
                <p:nvPr/>
              </p:nvSpPr>
              <p:spPr>
                <a:xfrm>
                  <a:off x="3447288" y="4553712"/>
                  <a:ext cx="1060704" cy="17373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การตรวจ</a:t>
                  </a:r>
                  <a:endParaRPr lang="en-US" sz="10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76" name="Text 74"/>
                <p:cNvSpPr/>
                <p:nvPr/>
              </p:nvSpPr>
              <p:spPr>
                <a:xfrm>
                  <a:off x="4562856" y="4535424"/>
                  <a:ext cx="15361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EF4444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33%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77" name="Text 75"/>
                <p:cNvSpPr/>
                <p:nvPr/>
              </p:nvSpPr>
              <p:spPr>
                <a:xfrm>
                  <a:off x="6135624" y="4535424"/>
                  <a:ext cx="15361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10B981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100%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78" name="Shape 76"/>
                <p:cNvSpPr/>
                <p:nvPr/>
              </p:nvSpPr>
              <p:spPr>
                <a:xfrm>
                  <a:off x="7708392" y="4572000"/>
                  <a:ext cx="804672" cy="137160"/>
                </a:xfrm>
                <a:prstGeom prst="rect">
                  <a:avLst/>
                </a:prstGeom>
                <a:solidFill>
                  <a:srgbClr val="10B981"/>
                </a:solidFill>
                <a:ln w="12700">
                  <a:solidFill>
                    <a:srgbClr val="10B981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79" name="Text 77"/>
                <p:cNvSpPr/>
                <p:nvPr/>
              </p:nvSpPr>
              <p:spPr>
                <a:xfrm>
                  <a:off x="7708392" y="4572000"/>
                  <a:ext cx="804672" cy="1371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8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▲</a:t>
                  </a:r>
                  <a:endParaRPr lang="en-US" sz="8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80" name="Shape 78"/>
                <p:cNvSpPr/>
                <p:nvPr/>
              </p:nvSpPr>
              <p:spPr>
                <a:xfrm>
                  <a:off x="457200" y="4754880"/>
                  <a:ext cx="8229600" cy="210312"/>
                </a:xfrm>
                <a:prstGeom prst="rect">
                  <a:avLst/>
                </a:prstGeom>
                <a:solidFill>
                  <a:srgbClr val="F1F5F9"/>
                </a:solidFill>
                <a:ln w="3810">
                  <a:solidFill>
                    <a:srgbClr val="CBD5E1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81" name="Text 79"/>
                <p:cNvSpPr/>
                <p:nvPr/>
              </p:nvSpPr>
              <p:spPr>
                <a:xfrm>
                  <a:off x="502920" y="4754880"/>
                  <a:ext cx="29077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900" dirty="0">
                      <a:solidFill>
                        <a:srgbClr val="1E293B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ห้องฉุกเฉินชั้น 3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82" name="Shape 80"/>
                <p:cNvSpPr/>
                <p:nvPr/>
              </p:nvSpPr>
              <p:spPr>
                <a:xfrm>
                  <a:off x="3447288" y="4773168"/>
                  <a:ext cx="1060704" cy="173736"/>
                </a:xfrm>
                <a:prstGeom prst="roundRect">
                  <a:avLst>
                    <a:gd name="adj" fmla="val 31579"/>
                  </a:avLst>
                </a:prstGeom>
                <a:solidFill>
                  <a:srgbClr val="0D9488"/>
                </a:solidFill>
                <a:ln w="12700">
                  <a:solidFill>
                    <a:srgbClr val="0D9488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83" name="Text 81"/>
                <p:cNvSpPr/>
                <p:nvPr/>
              </p:nvSpPr>
              <p:spPr>
                <a:xfrm>
                  <a:off x="3447288" y="4773168"/>
                  <a:ext cx="1060704" cy="17373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สถานที่</a:t>
                  </a:r>
                  <a:endParaRPr lang="en-US" sz="10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84" name="Text 82"/>
                <p:cNvSpPr/>
                <p:nvPr/>
              </p:nvSpPr>
              <p:spPr>
                <a:xfrm>
                  <a:off x="4562856" y="4754880"/>
                  <a:ext cx="15361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EF4444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33%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85" name="Text 83"/>
                <p:cNvSpPr/>
                <p:nvPr/>
              </p:nvSpPr>
              <p:spPr>
                <a:xfrm>
                  <a:off x="6135624" y="4754880"/>
                  <a:ext cx="15361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10B981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100%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86" name="Shape 84"/>
                <p:cNvSpPr/>
                <p:nvPr/>
              </p:nvSpPr>
              <p:spPr>
                <a:xfrm>
                  <a:off x="7708392" y="4791456"/>
                  <a:ext cx="804672" cy="137160"/>
                </a:xfrm>
                <a:prstGeom prst="rect">
                  <a:avLst/>
                </a:prstGeom>
                <a:solidFill>
                  <a:srgbClr val="10B981"/>
                </a:solidFill>
                <a:ln w="12700">
                  <a:solidFill>
                    <a:srgbClr val="10B981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87" name="Text 85"/>
                <p:cNvSpPr/>
                <p:nvPr/>
              </p:nvSpPr>
              <p:spPr>
                <a:xfrm>
                  <a:off x="7708392" y="4791456"/>
                  <a:ext cx="804672" cy="1371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8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▲</a:t>
                  </a:r>
                  <a:endParaRPr lang="en-US" sz="8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88" name="Shape 86"/>
                <p:cNvSpPr/>
                <p:nvPr/>
              </p:nvSpPr>
              <p:spPr>
                <a:xfrm>
                  <a:off x="457200" y="4974336"/>
                  <a:ext cx="8229600" cy="210312"/>
                </a:xfrm>
                <a:prstGeom prst="rect">
                  <a:avLst/>
                </a:prstGeom>
                <a:solidFill>
                  <a:srgbClr val="FFFFFF"/>
                </a:solidFill>
                <a:ln w="3810">
                  <a:solidFill>
                    <a:srgbClr val="CBD5E1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89" name="Text 87"/>
                <p:cNvSpPr/>
                <p:nvPr/>
              </p:nvSpPr>
              <p:spPr>
                <a:xfrm>
                  <a:off x="502920" y="4974336"/>
                  <a:ext cx="29077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900" dirty="0">
                      <a:solidFill>
                        <a:srgbClr val="1E293B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โปรดแจ้งถ้ามีอาการปวด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90" name="Shape 88"/>
                <p:cNvSpPr/>
                <p:nvPr/>
              </p:nvSpPr>
              <p:spPr>
                <a:xfrm>
                  <a:off x="3447288" y="4992624"/>
                  <a:ext cx="1060704" cy="173736"/>
                </a:xfrm>
                <a:prstGeom prst="roundRect">
                  <a:avLst>
                    <a:gd name="adj" fmla="val 31579"/>
                  </a:avLst>
                </a:prstGeom>
                <a:solidFill>
                  <a:srgbClr val="0D9488"/>
                </a:solidFill>
                <a:ln w="12700">
                  <a:solidFill>
                    <a:srgbClr val="0D9488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91" name="Text 89"/>
                <p:cNvSpPr/>
                <p:nvPr/>
              </p:nvSpPr>
              <p:spPr>
                <a:xfrm>
                  <a:off x="3447288" y="4992624"/>
                  <a:ext cx="1060704" cy="17373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0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การสื่อสาร</a:t>
                  </a:r>
                  <a:endParaRPr lang="en-US" sz="10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92" name="Text 90"/>
                <p:cNvSpPr/>
                <p:nvPr/>
              </p:nvSpPr>
              <p:spPr>
                <a:xfrm>
                  <a:off x="4562856" y="4974336"/>
                  <a:ext cx="15361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EF4444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40%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93" name="Text 91"/>
                <p:cNvSpPr/>
                <p:nvPr/>
              </p:nvSpPr>
              <p:spPr>
                <a:xfrm>
                  <a:off x="6135624" y="4974336"/>
                  <a:ext cx="1536192" cy="21031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b="1" dirty="0">
                      <a:solidFill>
                        <a:srgbClr val="10B981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100%</a:t>
                  </a:r>
                  <a:endParaRPr lang="en-US" sz="9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94" name="Shape 92"/>
                <p:cNvSpPr/>
                <p:nvPr/>
              </p:nvSpPr>
              <p:spPr>
                <a:xfrm>
                  <a:off x="7708392" y="5010912"/>
                  <a:ext cx="804672" cy="137160"/>
                </a:xfrm>
                <a:prstGeom prst="rect">
                  <a:avLst/>
                </a:prstGeom>
                <a:solidFill>
                  <a:srgbClr val="10B981"/>
                </a:solidFill>
                <a:ln w="12700">
                  <a:solidFill>
                    <a:srgbClr val="10B981"/>
                  </a:solidFill>
                  <a:prstDash val="solid"/>
                </a:ln>
              </p:spPr>
              <p:txBody>
                <a:bodyPr/>
                <a:lstStyle/>
                <a:p>
                  <a:endParaRPr lang="en-US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95" name="Text 93"/>
                <p:cNvSpPr/>
                <p:nvPr/>
              </p:nvSpPr>
              <p:spPr>
                <a:xfrm>
                  <a:off x="7708392" y="5010912"/>
                  <a:ext cx="804672" cy="1371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800" b="1" dirty="0">
                      <a:solidFill>
                        <a:srgbClr val="FFFFFF"/>
                      </a:solidFill>
                      <a:latin typeface="TH SarabunPSK" panose="020B0500040200020003" pitchFamily="34" charset="-34"/>
                      <a:cs typeface="TH SarabunPSK" panose="020B0500040200020003" pitchFamily="34" charset="-34"/>
                    </a:rPr>
                    <a:t>▲</a:t>
                  </a:r>
                  <a:endParaRPr lang="en-US" sz="80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  <p:sp>
              <p:nvSpPr>
                <p:cNvPr id="97" name="Text 95"/>
                <p:cNvSpPr/>
                <p:nvPr/>
              </p:nvSpPr>
              <p:spPr>
                <a:xfrm>
                  <a:off x="548640" y="5212080"/>
                  <a:ext cx="8046720" cy="20116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endParaRPr lang="en-US" sz="1050" dirty="0">
                    <a:latin typeface="TH SarabunPSK" panose="020B0500040200020003" pitchFamily="34" charset="-34"/>
                    <a:cs typeface="TH SarabunPSK" panose="020B0500040200020003" pitchFamily="34" charset="-34"/>
                  </a:endParaRPr>
                </a:p>
              </p:txBody>
            </p:sp>
          </p:grp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8BE7982-6649-29FB-BB59-7966E0916B7A}"/>
              </a:ext>
            </a:extLst>
          </p:cNvPr>
          <p:cNvGrpSpPr/>
          <p:nvPr/>
        </p:nvGrpSpPr>
        <p:grpSpPr>
          <a:xfrm>
            <a:off x="509016" y="4621244"/>
            <a:ext cx="12496800" cy="685610"/>
            <a:chOff x="402336" y="4693538"/>
            <a:chExt cx="12496800" cy="685610"/>
          </a:xfrm>
        </p:grpSpPr>
        <p:sp>
          <p:nvSpPr>
            <p:cNvPr id="105" name="Text 23">
              <a:extLst>
                <a:ext uri="{FF2B5EF4-FFF2-40B4-BE49-F238E27FC236}">
                  <a16:creationId xmlns:a16="http://schemas.microsoft.com/office/drawing/2014/main" id="{733173DE-AD9F-0339-A9CD-4511FD695095}"/>
                </a:ext>
              </a:extLst>
            </p:cNvPr>
            <p:cNvSpPr/>
            <p:nvPr/>
          </p:nvSpPr>
          <p:spPr>
            <a:xfrm>
              <a:off x="402336" y="4695253"/>
              <a:ext cx="8229600" cy="6838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th-TH" sz="800" b="1" dirty="0">
                  <a:solidFill>
                    <a:schemeClr val="bg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ผู้มาโรงพยาบาล 53% มีปัญหาการนำทาง จึงต้องทดสอบประโยคเรื่องสถานที่ </a:t>
              </a:r>
              <a:r>
                <a:rPr lang="en-US" sz="800" b="1" dirty="0" err="1">
                  <a:solidFill>
                    <a:schemeClr val="bg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Mappedin</a:t>
              </a:r>
              <a:r>
                <a:rPr lang="th-TH" sz="800" b="1" dirty="0">
                  <a:solidFill>
                    <a:schemeClr val="bg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 </a:t>
              </a:r>
            </a:p>
            <a:p>
              <a:r>
                <a:rPr lang="en-US" sz="800" b="1" dirty="0">
                  <a:solidFill>
                    <a:schemeClr val="bg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https://www.mappedin.com/resources/blog/how-to-implement-hospital-wayfinding-system/</a:t>
              </a:r>
              <a:endParaRPr lang="th-TH" sz="800" b="1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10" name="Text 23">
              <a:extLst>
                <a:ext uri="{FF2B5EF4-FFF2-40B4-BE49-F238E27FC236}">
                  <a16:creationId xmlns:a16="http://schemas.microsoft.com/office/drawing/2014/main" id="{9F78CF18-F00E-88F7-51D8-2B443000D271}"/>
                </a:ext>
              </a:extLst>
            </p:cNvPr>
            <p:cNvSpPr/>
            <p:nvPr/>
          </p:nvSpPr>
          <p:spPr>
            <a:xfrm>
              <a:off x="4669536" y="4693538"/>
              <a:ext cx="8229600" cy="6838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th-TH" sz="800" b="1" dirty="0">
                  <a:solidFill>
                    <a:schemeClr val="bg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ผู้ป่วยต้องการข้อมูลยาและวิธีรับประทานมากที่สุด จึงต้องมีประโยคหมวดยาในชุดทดสอบ </a:t>
              </a:r>
              <a:r>
                <a:rPr lang="en-US" sz="800" b="1" dirty="0">
                  <a:solidFill>
                    <a:schemeClr val="bg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ScienceDirect</a:t>
              </a:r>
            </a:p>
            <a:p>
              <a:r>
                <a:rPr lang="en-US" sz="800" b="1" dirty="0">
                  <a:solidFill>
                    <a:schemeClr val="bg1"/>
                  </a:solidFill>
                  <a:latin typeface="TH SarabunPSK" panose="020B0500040200020003" pitchFamily="34" charset="-34"/>
                  <a:cs typeface="TH SarabunPSK" panose="020B0500040200020003" pitchFamily="34" charset="-34"/>
                </a:rPr>
                <a:t>https://www.sciencedirect.com/science/article/pii/S0738399123003014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A2540"/>
                </a:solidFill>
                <a:latin typeface="TH SarabunPSK" panose="020B0500040200020003" pitchFamily="34" charset="-34"/>
                <a:ea typeface="Calibri" pitchFamily="34" charset="-122"/>
                <a:cs typeface="TH SarabunPSK" panose="020B0500040200020003" pitchFamily="34" charset="-34"/>
              </a:rPr>
              <a:t>Design Decision: Rule-Based vs Neural NLP</a:t>
            </a:r>
            <a:endParaRPr lang="en-US" sz="3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4137660" cy="310896"/>
          </a:xfrm>
          <a:prstGeom prst="roundRect">
            <a:avLst>
              <a:gd name="adj" fmla="val 3529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41376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ทำไมไม่ใช้ mBART / Thai-BART / LLM?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7D40EEF-E271-1C78-D936-850B00E90307}"/>
              </a:ext>
            </a:extLst>
          </p:cNvPr>
          <p:cNvGrpSpPr/>
          <p:nvPr/>
        </p:nvGrpSpPr>
        <p:grpSpPr>
          <a:xfrm>
            <a:off x="3013456" y="1243584"/>
            <a:ext cx="2880823" cy="3657600"/>
            <a:chOff x="457200" y="1188720"/>
            <a:chExt cx="4005072" cy="3657600"/>
          </a:xfrm>
        </p:grpSpPr>
        <p:sp>
          <p:nvSpPr>
            <p:cNvPr id="5" name="Shape 3"/>
            <p:cNvSpPr/>
            <p:nvPr/>
          </p:nvSpPr>
          <p:spPr>
            <a:xfrm>
              <a:off x="457200" y="1188720"/>
              <a:ext cx="4005072" cy="3657600"/>
            </a:xfrm>
            <a:prstGeom prst="rect">
              <a:avLst/>
            </a:prstGeom>
            <a:solidFill>
              <a:srgbClr val="CCFBF1"/>
            </a:solidFill>
            <a:ln w="15240">
              <a:solidFill>
                <a:srgbClr val="0D9488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 sz="12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C3C1103-301F-A5BA-D2E3-4CBA1253661E}"/>
                </a:ext>
              </a:extLst>
            </p:cNvPr>
            <p:cNvGrpSpPr/>
            <p:nvPr/>
          </p:nvGrpSpPr>
          <p:grpSpPr>
            <a:xfrm>
              <a:off x="457200" y="1207008"/>
              <a:ext cx="4005072" cy="420624"/>
              <a:chOff x="457200" y="1207008"/>
              <a:chExt cx="4005072" cy="420624"/>
            </a:xfrm>
          </p:grpSpPr>
          <p:sp>
            <p:nvSpPr>
              <p:cNvPr id="6" name="Shape 4"/>
              <p:cNvSpPr/>
              <p:nvPr/>
            </p:nvSpPr>
            <p:spPr>
              <a:xfrm>
                <a:off x="457200" y="1207008"/>
                <a:ext cx="4005072" cy="386070"/>
              </a:xfrm>
              <a:prstGeom prst="rect">
                <a:avLst/>
              </a:prstGeom>
              <a:solidFill>
                <a:srgbClr val="0D9488"/>
              </a:solidFill>
              <a:ln w="12700">
                <a:solidFill>
                  <a:srgbClr val="0D9488"/>
                </a:solidFill>
                <a:prstDash val="solid"/>
              </a:ln>
            </p:spPr>
            <p:txBody>
              <a:bodyPr/>
              <a:lstStyle/>
              <a:p>
                <a:endParaRPr lang="en-US" sz="120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</p:txBody>
          </p:sp>
          <p:sp>
            <p:nvSpPr>
              <p:cNvPr id="7" name="Text 5"/>
              <p:cNvSpPr/>
              <p:nvPr/>
            </p:nvSpPr>
            <p:spPr>
              <a:xfrm>
                <a:off x="548640" y="1225296"/>
                <a:ext cx="3822192" cy="40233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FFFFFF"/>
                    </a:solidFill>
                    <a:latin typeface="TH SarabunPSK" panose="020B0500040200020003" pitchFamily="34" charset="-34"/>
                    <a:cs typeface="TH SarabunPSK" panose="020B0500040200020003" pitchFamily="34" charset="-34"/>
                  </a:rPr>
                  <a:t>Rule-Based (เลือกใช้)</a:t>
                </a:r>
                <a:endParaRPr lang="en-US" sz="1200" dirty="0">
                  <a:latin typeface="TH SarabunPSK" panose="020B0500040200020003" pitchFamily="34" charset="-34"/>
                  <a:cs typeface="TH SarabunPSK" panose="020B0500040200020003" pitchFamily="34" charset="-34"/>
                </a:endParaRPr>
              </a:p>
            </p:txBody>
          </p:sp>
        </p:grpSp>
      </p:grpSp>
      <p:sp>
        <p:nvSpPr>
          <p:cNvPr id="17" name="Shape 15"/>
          <p:cNvSpPr/>
          <p:nvPr/>
        </p:nvSpPr>
        <p:spPr>
          <a:xfrm>
            <a:off x="5900547" y="1243584"/>
            <a:ext cx="2507869" cy="3657600"/>
          </a:xfrm>
          <a:prstGeom prst="rect">
            <a:avLst/>
          </a:prstGeom>
          <a:solidFill>
            <a:srgbClr val="FEE2E2"/>
          </a:solidFill>
          <a:ln w="1524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00547" y="1243584"/>
            <a:ext cx="2507869" cy="40435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57804" y="1261964"/>
            <a:ext cx="2393354" cy="404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Neural MT (ไม่เลือก)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80F0E938-44F4-ECB6-63A0-2DED4DBAF939}"/>
              </a:ext>
            </a:extLst>
          </p:cNvPr>
          <p:cNvSpPr/>
          <p:nvPr/>
        </p:nvSpPr>
        <p:spPr>
          <a:xfrm>
            <a:off x="505587" y="1243584"/>
            <a:ext cx="2507869" cy="3657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chemeClr val="accent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57774873-24EB-43C5-860C-7080955C3FA2}"/>
              </a:ext>
            </a:extLst>
          </p:cNvPr>
          <p:cNvSpPr/>
          <p:nvPr/>
        </p:nvSpPr>
        <p:spPr>
          <a:xfrm>
            <a:off x="511855" y="1249799"/>
            <a:ext cx="2507869" cy="40435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85695C0A-C863-1A0C-EA4A-BB91971B3B84}"/>
              </a:ext>
            </a:extLst>
          </p:cNvPr>
          <p:cNvSpPr/>
          <p:nvPr/>
        </p:nvSpPr>
        <p:spPr>
          <a:xfrm>
            <a:off x="511855" y="1261964"/>
            <a:ext cx="2501601" cy="37447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Criteria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8ECA370E-6563-098E-D2A6-E58C17791411}"/>
              </a:ext>
            </a:extLst>
          </p:cNvPr>
          <p:cNvSpPr/>
          <p:nvPr/>
        </p:nvSpPr>
        <p:spPr>
          <a:xfrm>
            <a:off x="641982" y="1692859"/>
            <a:ext cx="7607379" cy="34921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lang="en-US" sz="1200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Explainability			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✅</a:t>
            </a:r>
            <a:r>
              <a:rPr lang="th-TH" sz="1200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อธิบายได้ทุก </a:t>
            </a:r>
            <a:r>
              <a:rPr lang="en-US" sz="1200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rule (transparent)		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❌</a:t>
            </a:r>
            <a:r>
              <a:rPr lang="en-US" sz="1200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Black box </a:t>
            </a:r>
            <a:r>
              <a:rPr lang="th-TH" sz="1200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อธิบายไม่ได้</a:t>
            </a:r>
            <a:r>
              <a:rPr lang="en-US" sz="1200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9C5F5A86-5949-9E6C-C486-A627F055584A}"/>
              </a:ext>
            </a:extLst>
          </p:cNvPr>
          <p:cNvSpPr/>
          <p:nvPr/>
        </p:nvSpPr>
        <p:spPr>
          <a:xfrm>
            <a:off x="641981" y="2108847"/>
            <a:ext cx="7607379" cy="34921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Training Data			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✅</a:t>
            </a:r>
            <a:r>
              <a:rPr lang="th-TH" sz="1200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ไม่ต้องใช้</a:t>
            </a:r>
            <a:r>
              <a:rPr lang="en-US" sz="1200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			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❌</a:t>
            </a:r>
            <a:r>
              <a:rPr lang="th-TH" sz="1200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ต้องใช้ (และภาษาไทย </a:t>
            </a:r>
            <a:r>
              <a:rPr lang="en-US" sz="1200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medical </a:t>
            </a:r>
            <a:r>
              <a:rPr lang="th-TH" sz="1200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ยังขาด)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AAF870EB-21EC-5213-4787-2403BD67A4B5}"/>
              </a:ext>
            </a:extLst>
          </p:cNvPr>
          <p:cNvSpPr/>
          <p:nvPr/>
        </p:nvSpPr>
        <p:spPr>
          <a:xfrm>
            <a:off x="641980" y="2496206"/>
            <a:ext cx="7607379" cy="3216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Accuracy (Safety)			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✅</a:t>
            </a:r>
            <a:r>
              <a:rPr lang="th-TH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ไม่มี </a:t>
            </a: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hallucination		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❌</a:t>
            </a:r>
            <a:r>
              <a:rPr lang="th-TH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อาจ </a:t>
            </a: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hallucinate (</a:t>
            </a:r>
            <a:r>
              <a:rPr lang="th-TH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เสี่ยงอันตราย)</a:t>
            </a: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	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FC29A5D2-8350-072D-4537-ACF48DF8430A}"/>
              </a:ext>
            </a:extLst>
          </p:cNvPr>
          <p:cNvSpPr/>
          <p:nvPr/>
        </p:nvSpPr>
        <p:spPr>
          <a:xfrm>
            <a:off x="643882" y="2889203"/>
            <a:ext cx="7607379" cy="3216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Deterministic			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✅</a:t>
            </a: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Output </a:t>
            </a:r>
            <a:r>
              <a:rPr lang="th-TH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เหมือนเดิมทุกครั้ง</a:t>
            </a: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		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❌</a:t>
            </a:r>
            <a:r>
              <a:rPr lang="th-TH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ผลลัพธ์ไม่คงที่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7604B41A-475F-2C93-C718-9889097D0DE9}"/>
              </a:ext>
            </a:extLst>
          </p:cNvPr>
          <p:cNvSpPr/>
          <p:nvPr/>
        </p:nvSpPr>
        <p:spPr>
          <a:xfrm>
            <a:off x="641979" y="3413188"/>
            <a:ext cx="7607379" cy="3216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Deployment			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✅</a:t>
            </a: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Offline </a:t>
            </a:r>
            <a:r>
              <a:rPr lang="th-TH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ได้</a:t>
            </a: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			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❌</a:t>
            </a:r>
            <a:r>
              <a:rPr lang="th-TH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ต้องใช้ </a:t>
            </a: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API / server			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E59B2628-B080-F3C8-7B7B-882387475EE5}"/>
              </a:ext>
            </a:extLst>
          </p:cNvPr>
          <p:cNvSpPr/>
          <p:nvPr/>
        </p:nvSpPr>
        <p:spPr>
          <a:xfrm>
            <a:off x="650177" y="3716203"/>
            <a:ext cx="7607379" cy="3216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Cost			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✅</a:t>
            </a:r>
            <a:r>
              <a:rPr lang="th-TH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ไม่มีค่าใช้จ่ายหลังติดตั้ง</a:t>
            </a: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		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❌</a:t>
            </a:r>
            <a:r>
              <a:rPr lang="th-TH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มีค่า </a:t>
            </a: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API / GPU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05D34388-1059-B635-0F56-26952DD20B5E}"/>
              </a:ext>
            </a:extLst>
          </p:cNvPr>
          <p:cNvSpPr/>
          <p:nvPr/>
        </p:nvSpPr>
        <p:spPr>
          <a:xfrm>
            <a:off x="650177" y="4248715"/>
            <a:ext cx="7607379" cy="3216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Development			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✅</a:t>
            </a:r>
            <a:r>
              <a:rPr lang="th-TH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เขียน </a:t>
            </a: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rule </a:t>
            </a:r>
            <a:r>
              <a:rPr lang="th-TH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ตาม </a:t>
            </a: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domain		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❌</a:t>
            </a:r>
            <a:r>
              <a:rPr lang="th-TH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ต้อง </a:t>
            </a: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fine-tune + data			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8232E5B8-0692-751C-5ABA-C132217E5FBB}"/>
              </a:ext>
            </a:extLst>
          </p:cNvPr>
          <p:cNvSpPr/>
          <p:nvPr/>
        </p:nvSpPr>
        <p:spPr>
          <a:xfrm>
            <a:off x="652076" y="4678873"/>
            <a:ext cx="7607379" cy="3216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Speed			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✅</a:t>
            </a:r>
            <a:r>
              <a:rPr lang="th-TH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เร็วและคงที่</a:t>
            </a: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			</a:t>
            </a:r>
            <a:r>
              <a:rPr lang="en-US" sz="12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❌</a:t>
            </a:r>
            <a:r>
              <a:rPr lang="th-TH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ช้ากว่า (ขึ้นกับ </a:t>
            </a:r>
            <a:r>
              <a:rPr lang="en-US" sz="1200" i="1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model)		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72B3422-A638-4595-F549-FA9CCEB39F58}"/>
              </a:ext>
            </a:extLst>
          </p:cNvPr>
          <p:cNvCxnSpPr>
            <a:cxnSpLocks/>
          </p:cNvCxnSpPr>
          <p:nvPr/>
        </p:nvCxnSpPr>
        <p:spPr>
          <a:xfrm flipV="1">
            <a:off x="511855" y="2051189"/>
            <a:ext cx="7896561" cy="18956"/>
          </a:xfrm>
          <a:prstGeom prst="line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D017BE8-323A-8033-D792-239E3F8DA653}"/>
              </a:ext>
            </a:extLst>
          </p:cNvPr>
          <p:cNvCxnSpPr>
            <a:cxnSpLocks/>
          </p:cNvCxnSpPr>
          <p:nvPr/>
        </p:nvCxnSpPr>
        <p:spPr>
          <a:xfrm flipV="1">
            <a:off x="511855" y="2462755"/>
            <a:ext cx="7896561" cy="18956"/>
          </a:xfrm>
          <a:prstGeom prst="line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70D78C3-86E9-DA4F-C8BC-769C4F0777AF}"/>
              </a:ext>
            </a:extLst>
          </p:cNvPr>
          <p:cNvCxnSpPr>
            <a:cxnSpLocks/>
          </p:cNvCxnSpPr>
          <p:nvPr/>
        </p:nvCxnSpPr>
        <p:spPr>
          <a:xfrm flipV="1">
            <a:off x="511855" y="2855709"/>
            <a:ext cx="7896561" cy="18956"/>
          </a:xfrm>
          <a:prstGeom prst="line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21ECF67-6261-5158-7F62-21AB47EB0E4C}"/>
              </a:ext>
            </a:extLst>
          </p:cNvPr>
          <p:cNvCxnSpPr>
            <a:cxnSpLocks/>
          </p:cNvCxnSpPr>
          <p:nvPr/>
        </p:nvCxnSpPr>
        <p:spPr>
          <a:xfrm flipV="1">
            <a:off x="511855" y="3267275"/>
            <a:ext cx="7896561" cy="18956"/>
          </a:xfrm>
          <a:prstGeom prst="line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85C1809-E795-3B6D-4C35-432F65ABA33D}"/>
              </a:ext>
            </a:extLst>
          </p:cNvPr>
          <p:cNvCxnSpPr>
            <a:cxnSpLocks/>
          </p:cNvCxnSpPr>
          <p:nvPr/>
        </p:nvCxnSpPr>
        <p:spPr>
          <a:xfrm flipV="1">
            <a:off x="505587" y="3680399"/>
            <a:ext cx="7896561" cy="18956"/>
          </a:xfrm>
          <a:prstGeom prst="line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52555D5-70B8-A450-17B1-826B58E04F76}"/>
              </a:ext>
            </a:extLst>
          </p:cNvPr>
          <p:cNvCxnSpPr>
            <a:cxnSpLocks/>
          </p:cNvCxnSpPr>
          <p:nvPr/>
        </p:nvCxnSpPr>
        <p:spPr>
          <a:xfrm flipV="1">
            <a:off x="505587" y="4091965"/>
            <a:ext cx="7896561" cy="18956"/>
          </a:xfrm>
          <a:prstGeom prst="line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1782F72-79FA-F3F3-DB96-31715CD8BAAF}"/>
              </a:ext>
            </a:extLst>
          </p:cNvPr>
          <p:cNvCxnSpPr>
            <a:cxnSpLocks/>
          </p:cNvCxnSpPr>
          <p:nvPr/>
        </p:nvCxnSpPr>
        <p:spPr>
          <a:xfrm flipV="1">
            <a:off x="505587" y="4484919"/>
            <a:ext cx="7896561" cy="18956"/>
          </a:xfrm>
          <a:prstGeom prst="line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EFD7ED9-CDF7-12BA-DEA0-2AE7B087053A}"/>
              </a:ext>
            </a:extLst>
          </p:cNvPr>
          <p:cNvCxnSpPr>
            <a:cxnSpLocks/>
          </p:cNvCxnSpPr>
          <p:nvPr/>
        </p:nvCxnSpPr>
        <p:spPr>
          <a:xfrm flipV="1">
            <a:off x="505587" y="4896485"/>
            <a:ext cx="7896561" cy="18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TH SarabunPSK" panose="020B0500040200020003" pitchFamily="34" charset="-34"/>
                <a:ea typeface="Calibri" pitchFamily="34" charset="-122"/>
                <a:cs typeface="TH SarabunPSK" panose="020B0500040200020003" pitchFamily="34" charset="-34"/>
              </a:rPr>
              <a:t>Limitations &amp; Honest Assessment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4978908" cy="310896"/>
          </a:xfrm>
          <a:prstGeom prst="roundRect">
            <a:avLst>
              <a:gd name="adj" fmla="val 35294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49789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Research Transparency — สิ่งที่ยังต้องพัฒนา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400507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400507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0352" y="1298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📖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Dictionary OOV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05840" y="1572768"/>
            <a:ext cx="1188720" cy="18288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840" y="15727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Medium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3822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คำนอก 355+intent dict → ❓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แก้ได้: เพิ่ม dict + active learning จาก missed words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00600" y="1207008"/>
            <a:ext cx="400507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00600" y="1207008"/>
            <a:ext cx="4005072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73752" y="1298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🎥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49240" y="128016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Placeholder Video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349240" y="1572768"/>
            <a:ext cx="1188720" cy="18288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349240" y="15727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High Priority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92040" y="1828800"/>
            <a:ext cx="3822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 err="1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อัดคลิปภาษามือจริง</a:t>
            </a: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3000 </a:t>
            </a:r>
            <a:r>
              <a:rPr lang="en-US" sz="1200" dirty="0" err="1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คำ</a:t>
            </a:r>
            <a:endParaRPr lang="th-TH" sz="1200" dirty="0">
              <a:solidFill>
                <a:srgbClr val="475569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>
              <a:lnSpc>
                <a:spcPct val="130000"/>
              </a:lnSpc>
            </a:pPr>
            <a:r>
              <a:rPr lang="th-TH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ปัจจุบัน </a:t>
            </a: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350 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2505456"/>
            <a:ext cx="400507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2505456"/>
            <a:ext cx="4005072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0352" y="25968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🏥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05840" y="257860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ยังไม่ทดสอบกับผู้ป่วยจริง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05840" y="2871216"/>
            <a:ext cx="1188720" cy="18288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05840" y="28712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High Priority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3127248"/>
            <a:ext cx="3822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Plan: IRB study กับผู้ป่วยหูหนวก 20 คน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วัด comprehension rate จริง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00600" y="2505456"/>
            <a:ext cx="400507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800600" y="2505456"/>
            <a:ext cx="4005072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73752" y="25968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🗣️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349240" y="2578608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Single Speaker Assumption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349240" y="2871216"/>
            <a:ext cx="1188720" cy="18288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49240" y="28712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Low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92040" y="3127248"/>
            <a:ext cx="3822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assume หมอพูดทีละประโยค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ยังไม่รองรับ conversation หลายคน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" y="3803904"/>
            <a:ext cx="400507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" y="3803904"/>
            <a:ext cx="4005072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30352" y="38953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🌐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05840" y="3877056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Thai Only (v1)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005840" y="4169664"/>
            <a:ext cx="1188720" cy="18288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05840" y="41696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Low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48640" y="4425696"/>
            <a:ext cx="3822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Whisper รองรับ 99 ภาษา — เพิ่มได้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ต้องการ </a:t>
            </a:r>
            <a:r>
              <a:rPr lang="en-US" sz="1200" dirty="0" err="1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dict</a:t>
            </a: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ภาษ</a:t>
            </a:r>
            <a:r>
              <a:rPr lang="th-TH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า</a:t>
            </a:r>
            <a:r>
              <a:rPr lang="en-US" sz="1200" dirty="0" err="1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อังกฤษเพิ่ม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800600" y="3803904"/>
            <a:ext cx="400507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800600" y="3803904"/>
            <a:ext cx="400507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873752" y="38953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⏱️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349240" y="3877056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Latency ~15s (CPU)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349240" y="4169664"/>
            <a:ext cx="1188720" cy="18288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sz="120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349240" y="41696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Medium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892040" y="4425696"/>
            <a:ext cx="38221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faster-whisper INT8 ลดได้ ~4x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หรือใช้ GPU → &lt;3 วินาที</a:t>
            </a:r>
            <a:endParaRPr lang="en-US" sz="1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TH SarabunPSK" panose="020B0500040200020003" pitchFamily="34" charset="-34"/>
                <a:ea typeface="Calibri" pitchFamily="34" charset="-122"/>
                <a:cs typeface="TH SarabunPSK" panose="020B0500040200020003" pitchFamily="34" charset="-34"/>
              </a:rPr>
              <a:t>Roadmap — 3 Phases</a:t>
            </a:r>
            <a:endParaRPr lang="en-US" sz="32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2244852" cy="310896"/>
          </a:xfrm>
          <a:prstGeom prst="roundRect">
            <a:avLst>
              <a:gd name="adj" fmla="val 3529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22448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แผนพัฒนาต่อเนื่อง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651760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265176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0352" y="122986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Phase 1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(ปัจจุบัน)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353312" y="1298448"/>
            <a:ext cx="0" cy="384048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26464" y="1229868"/>
            <a:ext cx="16093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MVP Lab Prototype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183184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✅ Whisper large STT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2252472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✅ 30+ NLP rules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0352" y="2673096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✅ Intent Resolution (52 intents, 500+ synonyms)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0352" y="30937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✅ Compound Tokenizer v7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2064" y="3514344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✅ 355-word sign dictionary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2064" y="393496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✅ Digit handling (0-30 + ช่อง/ห้อง/คิว)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2064" y="4355592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🔄 อัดคลิปภาษามือจริง 355 คำ (in progress)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355848" y="1207008"/>
            <a:ext cx="2651760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355848" y="1207008"/>
            <a:ext cx="265176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29000" y="122986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Phase 2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(6 เดือน)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51960" y="1298448"/>
            <a:ext cx="0" cy="384048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25112" y="1207008"/>
            <a:ext cx="16093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Clinical Pilot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47288" y="183184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🏥 IRB approval + ethics review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47288" y="2252472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👤 20 deaf patients comprehension study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29000" y="2673096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📊 WER measurement on real hospital audio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429000" y="30937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🎥 Complete 355 real TSL video clips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410712" y="3514344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📱 Tablet-optimized fullscreen UI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410712" y="393496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🔧 Real-world rule tuning จาก field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410712" y="4355592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📈 Expand intent dict จาก missed cases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54496" y="1207008"/>
            <a:ext cx="2651760" cy="363931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54496" y="1207008"/>
            <a:ext cx="265176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27648" y="120700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Phase 3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(1 ปี)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150608" y="1298448"/>
            <a:ext cx="0" cy="384048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223760" y="1207008"/>
            <a:ext cx="16093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Production System</a:t>
            </a:r>
            <a:endParaRPr lang="en-US" sz="1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45936" y="183184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🤖 LLM simplification layer (Thai-BART/GPT)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27648" y="2252472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🌐 English + Burmese language support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327648" y="2673096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📚 500+ word dictionary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09360" y="309372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🔄 Active learning จาก patient feedback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309360" y="3514344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☁️ Hospital intranet deployment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291072" y="393496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🔊 TTS output สำหรับผู้พิการทางสายตา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291072" y="4355592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📊 Analytics dashboard สำหรับบุคลากร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57200" y="4956048"/>
            <a:ext cx="8229600" cy="2011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48640" y="495604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Vision: ทุกโรงพยาบาลในไทยมีระบบสื่อสารกับผู้พิการทางการได้ยิน ที่ real-time, low-cost, explainable, และ offline-capable</a:t>
            </a:r>
            <a:endParaRPr lang="en-US" sz="11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8404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9CB3C8"/>
                </a:solidFill>
              </a:rPr>
              <a:t>Smart Medical Sign Display System</a:t>
            </a:r>
            <a:endParaRPr lang="en-US" sz="15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9CB3C8"/>
                </a:solidFill>
              </a:rPr>
              <a:t>Speech-to-Text + Intent Resolution + NLP + Thai Sign Language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94436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29077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1D5DB"/>
                </a:solidFill>
              </a:rPr>
              <a:t>Whisper large + medical prompt  →  WER ~8%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32841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4128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1D5DB"/>
                </a:solidFill>
              </a:rPr>
              <a:t>Intent Resolution: 52 intents, 500+ synonyms  →  resolve คำพ้องทุกรูปแบบ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71246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24128" y="36758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1D5DB"/>
                </a:solidFill>
              </a:rPr>
              <a:t>Compound Tokenizer v7: merge table 5,591 entries  →  sign coverage ~95%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09651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4128" y="405993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1D5DB"/>
                </a:solidFill>
              </a:rPr>
              <a:t>355 คำ · 14 หมวด · Rule-based NLP · Offline CPU-only deployment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572000"/>
            <a:ext cx="795528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2700</Words>
  <Application>Microsoft Office PowerPoint</Application>
  <PresentationFormat>On-screen Show (16:9)</PresentationFormat>
  <Paragraphs>627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Courier New</vt:lpstr>
      <vt:lpstr>TH SarabunPSK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Medical Sign Display — Full Technical Presentation</dc:title>
  <dc:subject>PptxGenJS Presentation</dc:subject>
  <dc:creator>PptxGenJS</dc:creator>
  <cp:lastModifiedBy>apasita pasukree</cp:lastModifiedBy>
  <cp:revision>3</cp:revision>
  <dcterms:created xsi:type="dcterms:W3CDTF">2026-04-29T21:18:52Z</dcterms:created>
  <dcterms:modified xsi:type="dcterms:W3CDTF">2026-04-30T13:14:24Z</dcterms:modified>
</cp:coreProperties>
</file>